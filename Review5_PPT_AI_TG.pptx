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82" r:id="rId6"/>
    <p:sldId id="269" r:id="rId7"/>
    <p:sldId id="283" r:id="rId8"/>
    <p:sldId id="299" r:id="rId9"/>
    <p:sldId id="284" r:id="rId10"/>
    <p:sldId id="285" r:id="rId11"/>
    <p:sldId id="270" r:id="rId12"/>
    <p:sldId id="300" r:id="rId13"/>
    <p:sldId id="287" r:id="rId14"/>
    <p:sldId id="275" r:id="rId15"/>
    <p:sldId id="305" r:id="rId16"/>
    <p:sldId id="276" r:id="rId17"/>
    <p:sldId id="290" r:id="rId18"/>
    <p:sldId id="308" r:id="rId19"/>
    <p:sldId id="301" r:id="rId20"/>
    <p:sldId id="302" r:id="rId21"/>
    <p:sldId id="278" r:id="rId22"/>
    <p:sldId id="304" r:id="rId23"/>
    <p:sldId id="297" r:id="rId24"/>
    <p:sldId id="280" r:id="rId25"/>
    <p:sldId id="306" r:id="rId26"/>
    <p:sldId id="307" r:id="rId27"/>
    <p:sldId id="266" r:id="rId2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7690726-49DA-4552-BDEB-330DD8EA8BD9}" styleName="Table_0">
    <a:wholeTbl>
      <a:tcTxStyle>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panose="020B0604030504040204"/>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pic>
        <p:nvPicPr>
          <p:cNvPr id="52" name="Google Shape;52;p7" descr="C:\Users\AMMU\Desktop\Border.png"/>
          <p:cNvPicPr preferRelativeResize="0"/>
          <p:nvPr/>
        </p:nvPicPr>
        <p:blipFill rotWithShape="1">
          <a:blip r:embed="rId2"/>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66" name="Google Shape;66;p10"/>
          <p:cNvSpPr>
            <a:spLocks noGrp="1"/>
          </p:cNvSpPr>
          <p:nvPr>
            <p:ph type="pic" idx="2"/>
          </p:nvPr>
        </p:nvSpPr>
        <p:spPr>
          <a:xfrm>
            <a:off x="2389717" y="612775"/>
            <a:ext cx="7315200" cy="4114800"/>
          </a:xfrm>
          <a:prstGeom prst="rect">
            <a:avLst/>
          </a:prstGeom>
          <a:noFill/>
          <a:ln>
            <a:noFill/>
          </a:ln>
        </p:spPr>
        <p:txBody>
          <a:bodyPr/>
          <a:lstStyle/>
          <a:p>
            <a:endParaRPr lang="en-IN"/>
          </a:p>
        </p:txBody>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panose="020B0604030504040204"/>
              <a:buNone/>
              <a:defRPr sz="2800" b="1" i="0" u="none" strike="noStrike" cap="none">
                <a:solidFill>
                  <a:srgbClr val="FF0000"/>
                </a:solidFill>
                <a:latin typeface="Verdana" panose="020B0604030504040204"/>
                <a:ea typeface="Verdana" panose="020B0604030504040204"/>
                <a:cs typeface="Verdana" panose="020B0604030504040204"/>
                <a:sym typeface="Verdana" panose="020B060403050404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fld>
            <a:endParaRPr lang="en-GB"/>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2"/>
          <a:srcRect b="18046"/>
          <a:stretch>
            <a:fillRect/>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github.com/Tarishmapikkili/AI-Based-Timetable-Generation-System.git" TargetMode="External"/></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hyperlink" Target="https://doi.org/10.1007/3-540-61794-9_51" TargetMode="External"/><Relationship Id="rId2" Type="http://schemas.openxmlformats.org/officeDocument/2006/relationships/hyperlink" Target="https://doi.org/10.3390/axioms12080720" TargetMode="External"/><Relationship Id="rId1" Type="http://schemas.openxmlformats.org/officeDocument/2006/relationships/hyperlink" Target="https://doi.org/10.71086/IAJSE/V10I4/IAJSE1032" TargetMode="External"/></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hyperlink" Target="https://doi.org/10.3390/a18030158&#13;" TargetMode="External"/><Relationship Id="rId2" Type="http://schemas.openxmlformats.org/officeDocument/2006/relationships/hyperlink" Target="https://doi.org/10.47392/IRJAEH.2025.0122&#13;" TargetMode="External"/><Relationship Id="rId1" Type="http://schemas.openxmlformats.org/officeDocument/2006/relationships/hyperlink" Target="https://doi.org/10.2991/978-94-6463-716-8_37&#13;" TargetMode="External"/></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hyperlink" Target="https://doi.org/10.7717/peerj-cs.1200&#13;" TargetMode="External"/><Relationship Id="rId2" Type="http://schemas.openxmlformats.org/officeDocument/2006/relationships/hyperlink" Target="https://doi.org/10.23917/khif.v10i1.4835" TargetMode="External"/><Relationship Id="rId1" Type="http://schemas.openxmlformats.org/officeDocument/2006/relationships/hyperlink" Target="https://doi.org/10.1007/978-3-642-01009-5_21" TargetMode="Externa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20https://doi.org/10.1016/S0377-2217(02)00069-3" TargetMode="Externa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US" altLang="en-US" sz="2400" dirty="0">
                <a:solidFill>
                  <a:schemeClr val="tx1"/>
                </a:solidFill>
                <a:latin typeface="Cambria" panose="02040503050406030204" pitchFamily="18" charset="0"/>
                <a:ea typeface="Cambria" panose="02040503050406030204" pitchFamily="18" charset="0"/>
                <a:sym typeface="+mn-ea"/>
              </a:rPr>
              <a:t>AI-Based Timetable Generation System aligned with NEP 2020 for Multidisciplinary Education Structures</a:t>
            </a:r>
            <a:endParaRPr sz="24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88" name="Google Shape;88;p13"/>
          <p:cNvSpPr txBox="1">
            <a:spLocks noGrp="1"/>
          </p:cNvSpPr>
          <p:nvPr>
            <p:ph type="subTitle" idx="1"/>
          </p:nvPr>
        </p:nvSpPr>
        <p:spPr>
          <a:xfrm>
            <a:off x="494685" y="2100845"/>
            <a:ext cx="4984095"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Times New Roman" panose="02020603050405020304" pitchFamily="18" charset="0"/>
                <a:ea typeface="Cambria" panose="02040503050406030204" pitchFamily="18" charset="0"/>
                <a:cs typeface="Times New Roman" panose="02020603050405020304" pitchFamily="18" charset="0"/>
              </a:rPr>
              <a:t>Batch Number: COM_</a:t>
            </a:r>
            <a:r>
              <a:rPr lang="en-IN" altLang="en-GB" sz="1800" dirty="0">
                <a:latin typeface="Times New Roman" panose="02020603050405020304" pitchFamily="18" charset="0"/>
                <a:ea typeface="Cambria" panose="02040503050406030204" pitchFamily="18" charset="0"/>
                <a:cs typeface="Times New Roman" panose="02020603050405020304" pitchFamily="18" charset="0"/>
              </a:rPr>
              <a:t>14</a:t>
            </a:r>
            <a:endParaRPr lang="en-IN" altLang="en-GB" sz="1800"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90" name="Google Shape;90;p13"/>
          <p:cNvSpPr txBox="1"/>
          <p:nvPr/>
        </p:nvSpPr>
        <p:spPr>
          <a:xfrm>
            <a:off x="6760029" y="2513340"/>
            <a:ext cx="5234466"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panose="020B0604020202020204"/>
              <a:buNone/>
            </a:pPr>
            <a:r>
              <a:rPr lang="en-GB" sz="18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Under the Supervision of,</a:t>
            </a:r>
            <a:endParaRPr lang="en-GB" sz="1800" dirty="0">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ctr" rtl="0">
              <a:spcBef>
                <a:spcPts val="0"/>
              </a:spcBef>
              <a:spcAft>
                <a:spcPts val="0"/>
              </a:spcAft>
              <a:buClr>
                <a:srgbClr val="17365D"/>
              </a:buClr>
              <a:buSzPts val="2000"/>
              <a:buFont typeface="Arial" panose="020B0604020202020204"/>
              <a:buNone/>
            </a:pPr>
            <a:endParaRPr sz="20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endParaRPr>
          </a:p>
          <a:p>
            <a:pPr lvl="0">
              <a:spcBef>
                <a:spcPts val="340"/>
              </a:spcBef>
              <a:buClr>
                <a:srgbClr val="17365D"/>
              </a:buClr>
              <a:buSzPts val="1700"/>
            </a:pPr>
            <a:r>
              <a:rPr lang="en-IN" altLang="en-GB" sz="17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Ms</a:t>
            </a:r>
            <a:r>
              <a:rPr lang="en-GB" sz="17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a:t>
            </a:r>
            <a:r>
              <a:rPr lang="en-IN" altLang="en-GB" sz="17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BABITHA S</a:t>
            </a:r>
            <a:endParaRPr lang="en-GB" sz="17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lvl="0">
              <a:spcBef>
                <a:spcPts val="340"/>
              </a:spcBef>
              <a:buClr>
                <a:srgbClr val="17365D"/>
              </a:buClr>
              <a:buSzPts val="1700"/>
            </a:pPr>
            <a:r>
              <a:rPr lang="en-US" sz="1700" b="1"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Assistant Professor</a:t>
            </a:r>
            <a:endParaRPr lang="en-US" sz="1800" dirty="0">
              <a:latin typeface="Times New Roman" panose="02020603050405020304" pitchFamily="18" charset="0"/>
              <a:ea typeface="Cambria" panose="02040503050406030204" pitchFamily="18" charset="0"/>
              <a:cs typeface="Times New Roman" panose="02020603050405020304" pitchFamily="18" charset="0"/>
            </a:endParaRPr>
          </a:p>
          <a:p>
            <a:pPr lvl="0">
              <a:spcBef>
                <a:spcPts val="340"/>
              </a:spcBef>
              <a:buClr>
                <a:srgbClr val="17365D"/>
              </a:buClr>
              <a:buSzPts val="1700"/>
            </a:pPr>
            <a:r>
              <a:rPr lang="en-US" sz="1700" b="1"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School of Computer Science and Engineering</a:t>
            </a:r>
            <a:endParaRPr lang="en-US" sz="1800" dirty="0">
              <a:latin typeface="Times New Roman" panose="02020603050405020304" pitchFamily="18" charset="0"/>
              <a:ea typeface="Cambria" panose="02040503050406030204" pitchFamily="18" charset="0"/>
              <a:cs typeface="Times New Roman" panose="02020603050405020304" pitchFamily="18" charset="0"/>
            </a:endParaRPr>
          </a:p>
          <a:p>
            <a:pPr lvl="0">
              <a:spcBef>
                <a:spcPts val="340"/>
              </a:spcBef>
              <a:buClr>
                <a:srgbClr val="17365D"/>
              </a:buClr>
              <a:buSzPts val="1700"/>
            </a:pPr>
            <a:r>
              <a:rPr lang="en-US" sz="1700" b="1"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Presidency University</a:t>
            </a:r>
            <a:endParaRPr lang="en-US" sz="1800" dirty="0">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graphicFrame>
        <p:nvGraphicFramePr>
          <p:cNvPr id="89" name="Google Shape;89;p13"/>
          <p:cNvGraphicFramePr/>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gridCol w="3333675"/>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43">
                <a:tc>
                  <a:txBody>
                    <a:bodyPr/>
                    <a:lstStyle/>
                    <a:p>
                      <a:pPr marL="0" marR="0" lvl="0" indent="0" algn="ctr" rtl="0">
                        <a:spcBef>
                          <a:spcPts val="0"/>
                        </a:spcBef>
                        <a:spcAft>
                          <a:spcPts val="0"/>
                        </a:spcAft>
                        <a:buFont typeface="+mj-l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bl>
          </a:graphicData>
        </a:graphic>
      </p:graphicFrame>
      <p:sp>
        <p:nvSpPr>
          <p:cNvPr id="91" name="Google Shape;91;p13"/>
          <p:cNvSpPr txBox="1"/>
          <p:nvPr/>
        </p:nvSpPr>
        <p:spPr>
          <a:xfrm>
            <a:off x="3046184" y="9906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panose="020B0604020202020204"/>
              <a:buNone/>
            </a:pPr>
            <a:r>
              <a:rPr lang="en-GB" sz="1800" b="1"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CSE7101-</a:t>
            </a:r>
            <a:r>
              <a:rPr lang="en-GB" sz="18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 Capstone Project</a:t>
            </a:r>
            <a:endParaRPr sz="1800" dirty="0">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ctr" rtl="0">
              <a:spcBef>
                <a:spcPts val="310"/>
              </a:spcBef>
              <a:spcAft>
                <a:spcPts val="0"/>
              </a:spcAft>
              <a:buClr>
                <a:srgbClr val="17365D"/>
              </a:buClr>
              <a:buSzPct val="100000"/>
              <a:buFont typeface="Arial" panose="020B0604020202020204"/>
              <a:buNone/>
            </a:pPr>
            <a:r>
              <a:rPr lang="en-GB" sz="18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Review-</a:t>
            </a:r>
            <a:r>
              <a:rPr lang="en-IN" altLang="en-GB" sz="18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5</a:t>
            </a:r>
            <a:endParaRPr lang="en-IN" altLang="en-GB" sz="18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endParaRPr>
          </a:p>
        </p:txBody>
      </p:sp>
      <p:sp>
        <p:nvSpPr>
          <p:cNvPr id="8" name="Google Shape;91;p13"/>
          <p:cNvSpPr txBox="1"/>
          <p:nvPr/>
        </p:nvSpPr>
        <p:spPr>
          <a:xfrm>
            <a:off x="400050" y="4533900"/>
            <a:ext cx="11391265" cy="1311910"/>
          </a:xfrm>
          <a:prstGeom prst="rect">
            <a:avLst/>
          </a:prstGeom>
          <a:noFill/>
          <a:ln>
            <a:noFill/>
          </a:ln>
        </p:spPr>
        <p:txBody>
          <a:bodyPr spcFirstLastPara="1" wrap="square" lIns="91425" tIns="45700" rIns="91425" bIns="45700" anchor="t" anchorCtr="0">
            <a:noAutofit/>
          </a:bodyPr>
          <a:lstStyle/>
          <a:p>
            <a:pPr>
              <a:buClr>
                <a:srgbClr val="17365D"/>
              </a:buClr>
              <a:buSzPct val="100000"/>
            </a:pPr>
            <a:r>
              <a:rPr lang="en-US" sz="1800" b="1" i="0" u="none" strike="noStrike" cap="none"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Name of the Program: </a:t>
            </a:r>
            <a:r>
              <a:rPr lang="en-US" sz="1800"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COM</a:t>
            </a:r>
            <a:endParaRPr lang="en-US" sz="1800" b="1" i="0" u="none" strike="noStrike" cap="none"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endParaRPr>
          </a:p>
          <a:p>
            <a:pPr lvl="0">
              <a:spcBef>
                <a:spcPts val="340"/>
              </a:spcBef>
              <a:buClr>
                <a:srgbClr val="17365D"/>
              </a:buClr>
              <a:buSzPts val="1700"/>
            </a:pPr>
            <a:r>
              <a:rPr lang="en-US" sz="18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Name of the HoD: </a:t>
            </a:r>
            <a:r>
              <a:rPr lang="en-IN" sz="1800" b="1" dirty="0">
                <a:latin typeface="Cambria" panose="02040503050406030204" pitchFamily="18" charset="0"/>
                <a:ea typeface="Cambria" panose="02040503050406030204" pitchFamily="18" charset="0"/>
              </a:rPr>
              <a:t>Dr. </a:t>
            </a:r>
            <a:r>
              <a:rPr lang="en-GB"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Gopal Krishna Shyam</a:t>
            </a:r>
            <a:endParaRPr lang="en-GB"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1800" b="1" i="0" u="none" strike="noStrike" cap="none"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Name of the Program Project Coordinator: </a:t>
            </a:r>
            <a:r>
              <a:rPr lang="en-IN" sz="1800" b="1" dirty="0">
                <a:latin typeface="Cambria" panose="02040503050406030204" pitchFamily="18" charset="0"/>
                <a:ea typeface="Cambria" panose="02040503050406030204" pitchFamily="18" charset="0"/>
              </a:rPr>
              <a:t>Ms. Sumita </a:t>
            </a:r>
            <a:r>
              <a:rPr lang="en-IN" sz="1800" b="1" dirty="0" err="1">
                <a:latin typeface="Cambria" panose="02040503050406030204" pitchFamily="18" charset="0"/>
                <a:ea typeface="Cambria" panose="02040503050406030204" pitchFamily="18" charset="0"/>
              </a:rPr>
              <a:t>Guddin</a:t>
            </a:r>
            <a:r>
              <a:rPr lang="en-IN" sz="1800" b="1" dirty="0">
                <a:latin typeface="Cambria" panose="02040503050406030204" pitchFamily="18" charset="0"/>
                <a:ea typeface="Cambria" panose="02040503050406030204" pitchFamily="18" charset="0"/>
              </a:rPr>
              <a:t> </a:t>
            </a:r>
            <a:endParaRPr lang="en-IN" sz="1800" b="1" dirty="0">
              <a:latin typeface="Cambria" panose="02040503050406030204" pitchFamily="18" charset="0"/>
              <a:ea typeface="Cambria" panose="02040503050406030204" pitchFamily="18" charset="0"/>
            </a:endParaRPr>
          </a:p>
          <a:p>
            <a:pPr lvl="0">
              <a:buClr>
                <a:srgbClr val="17365D"/>
              </a:buClr>
              <a:buSzPct val="100000"/>
            </a:pPr>
            <a:r>
              <a:rPr lang="en-US" sz="18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Name of the School Project Coordinators: </a:t>
            </a:r>
            <a:r>
              <a:rPr lang="en-US" sz="18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Dr. </a:t>
            </a:r>
            <a:r>
              <a:rPr lang="en-US" sz="1800" b="1" i="0" u="none" strike="noStrike" cap="none" dirty="0" err="1">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Sampath</a:t>
            </a:r>
            <a:r>
              <a:rPr lang="en-US" sz="18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 A K , Dr. </a:t>
            </a:r>
            <a:r>
              <a:rPr lang="en-US" sz="1800" b="1" i="0" u="none" strike="noStrike" cap="none" dirty="0" err="1">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Geetha</a:t>
            </a:r>
            <a:r>
              <a:rPr lang="en-US" sz="18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 A </a:t>
            </a:r>
            <a:endParaRPr sz="18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endParaRPr>
          </a:p>
        </p:txBody>
      </p:sp>
      <p:graphicFrame>
        <p:nvGraphicFramePr>
          <p:cNvPr id="2" name="Table 1"/>
          <p:cNvGraphicFramePr>
            <a:graphicFrameLocks noGrp="1"/>
          </p:cNvGraphicFramePr>
          <p:nvPr/>
        </p:nvGraphicFramePr>
        <p:xfrm>
          <a:off x="553082" y="2721609"/>
          <a:ext cx="5685974" cy="1573032"/>
        </p:xfrm>
        <a:graphic>
          <a:graphicData uri="http://schemas.openxmlformats.org/drawingml/2006/table">
            <a:tbl>
              <a:tblPr firstRow="1" bandRow="1"/>
              <a:tblGrid>
                <a:gridCol w="2842987"/>
                <a:gridCol w="2842987"/>
              </a:tblGrid>
              <a:tr h="393258">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a:latin typeface="Times New Roman" panose="02020603050405020304" pitchFamily="18" charset="0"/>
                        <a:cs typeface="Times New Roman" panose="02020603050405020304" pitchFamily="18" charset="0"/>
                      </a:endParaRPr>
                    </a:p>
                  </a:txBody>
                  <a:tcPr/>
                </a:tc>
              </a:tr>
              <a:tr h="393258">
                <a:tc>
                  <a:txBody>
                    <a:bodyPr/>
                    <a:lstStyle/>
                    <a:p>
                      <a:r>
                        <a:rPr lang="en-IN" sz="1800" dirty="0">
                          <a:latin typeface="Times New Roman" panose="02020603050405020304" pitchFamily="18" charset="0"/>
                          <a:cs typeface="Times New Roman" panose="02020603050405020304" pitchFamily="18" charset="0"/>
                        </a:rPr>
                        <a:t>20221COM0019</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IN" sz="1800" dirty="0">
                          <a:sym typeface="+mn-ea"/>
                        </a:rPr>
                        <a:t>Makandar Saba Fareen</a:t>
                      </a:r>
                      <a:endParaRPr lang="en-IN" sz="1800" dirty="0">
                        <a:latin typeface="Times New Roman" panose="02020603050405020304" pitchFamily="18" charset="0"/>
                        <a:cs typeface="Times New Roman" panose="02020603050405020304" pitchFamily="18" charset="0"/>
                      </a:endParaRPr>
                    </a:p>
                  </a:txBody>
                  <a:tcPr/>
                </a:tc>
              </a:tr>
              <a:tr h="393258">
                <a:tc>
                  <a:txBody>
                    <a:bodyPr/>
                    <a:lstStyle/>
                    <a:p>
                      <a:r>
                        <a:rPr lang="en-IN" sz="1800" dirty="0">
                          <a:latin typeface="Times New Roman" panose="02020603050405020304" pitchFamily="18" charset="0"/>
                          <a:cs typeface="Times New Roman" panose="02020603050405020304" pitchFamily="18" charset="0"/>
                        </a:rPr>
                        <a:t>20221COM0039</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IN" sz="1800" dirty="0">
                          <a:sym typeface="+mn-ea"/>
                        </a:rPr>
                        <a:t>Billa Sunilkumar</a:t>
                      </a:r>
                      <a:endParaRPr lang="en-IN" sz="1800" dirty="0">
                        <a:latin typeface="Times New Roman" panose="02020603050405020304" pitchFamily="18" charset="0"/>
                        <a:cs typeface="Times New Roman" panose="02020603050405020304" pitchFamily="18" charset="0"/>
                      </a:endParaRPr>
                    </a:p>
                  </a:txBody>
                  <a:tcPr/>
                </a:tc>
              </a:tr>
              <a:tr h="393258">
                <a:tc>
                  <a:txBody>
                    <a:bodyPr/>
                    <a:lstStyle/>
                    <a:p>
                      <a:r>
                        <a:rPr lang="en-IN" sz="1800" dirty="0">
                          <a:latin typeface="Times New Roman" panose="02020603050405020304" pitchFamily="18" charset="0"/>
                          <a:cs typeface="Times New Roman" panose="02020603050405020304" pitchFamily="18" charset="0"/>
                        </a:rPr>
                        <a:t>20221COM0052</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IN" sz="1800" dirty="0">
                          <a:sym typeface="+mn-ea"/>
                        </a:rPr>
                        <a:t>Pikkili Sai Tarishma</a:t>
                      </a:r>
                      <a:endParaRPr lang="en-IN" sz="1800"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925287"/>
            <a:ext cx="10668000" cy="5105399"/>
          </a:xfrm>
          <a:prstGeom prst="rect">
            <a:avLst/>
          </a:prstGeom>
          <a:noFill/>
          <a:ln>
            <a:noFill/>
          </a:ln>
        </p:spPr>
        <p:txBody>
          <a:bodyPr spcFirstLastPara="1" wrap="square" lIns="91425" tIns="45700" rIns="91425" bIns="45700" anchor="t" anchorCtr="0">
            <a:normAutofit lnSpcReduction="10000"/>
          </a:bodyPr>
          <a:lstStyle/>
          <a:p>
            <a:pPr marL="495300" indent="-342900" algn="just">
              <a:lnSpc>
                <a:spcPct val="200000"/>
              </a:lnSpc>
              <a:spcBef>
                <a:spcPts val="0"/>
              </a:spcBef>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Abstract</a:t>
            </a: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495300" indent="-342900" algn="just">
              <a:lnSpc>
                <a:spcPct val="200000"/>
              </a:lnSpc>
              <a:spcBef>
                <a:spcPts val="0"/>
              </a:spcBef>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Problem Statement</a:t>
            </a: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495300" indent="-342900" algn="just">
              <a:lnSpc>
                <a:spcPct val="200000"/>
              </a:lnSpc>
              <a:spcBef>
                <a:spcPts val="0"/>
              </a:spcBef>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Objectives</a:t>
            </a: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495300" lvl="0" indent="-342900" algn="just">
              <a:lnSpc>
                <a:spcPct val="200000"/>
              </a:lnSpc>
              <a:spcBef>
                <a:spcPts val="0"/>
              </a:spcBef>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Literature Survey</a:t>
            </a: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495300" indent="-342900" algn="just">
              <a:lnSpc>
                <a:spcPct val="200000"/>
              </a:lnSpc>
              <a:spcBef>
                <a:spcPts val="0"/>
              </a:spcBef>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Proposed Methodology</a:t>
            </a: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495300" indent="-342900" algn="just">
              <a:lnSpc>
                <a:spcPct val="200000"/>
              </a:lnSpc>
              <a:spcBef>
                <a:spcPts val="0"/>
              </a:spcBef>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Modules</a:t>
            </a: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495300" indent="-342900" algn="just">
              <a:lnSpc>
                <a:spcPct val="200000"/>
              </a:lnSpc>
              <a:spcBef>
                <a:spcPts val="0"/>
              </a:spcBef>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Implementation Progress</a:t>
            </a: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ambria" panose="02040503050406030204" pitchFamily="18" charset="0"/>
                <a:ea typeface="Cambria" panose="02040503050406030204" pitchFamily="18" charset="0"/>
              </a:rPr>
              <a:t>Content</a:t>
            </a:r>
            <a:endParaRPr lang="en-IN" dirty="0"/>
          </a:p>
        </p:txBody>
      </p:sp>
      <p:sp>
        <p:nvSpPr>
          <p:cNvPr id="3" name="Text Placeholder 2"/>
          <p:cNvSpPr>
            <a:spLocks noGrp="1"/>
          </p:cNvSpPr>
          <p:nvPr>
            <p:ph type="body" idx="1"/>
          </p:nvPr>
        </p:nvSpPr>
        <p:spPr>
          <a:xfrm>
            <a:off x="812800" y="914400"/>
            <a:ext cx="10668000" cy="5268687"/>
          </a:xfrm>
        </p:spPr>
        <p:txBody>
          <a:bodyPr>
            <a:normAutofit/>
          </a:bodyPr>
          <a:lstStyle/>
          <a:p>
            <a:pPr marL="495300" indent="-342900" algn="just">
              <a:lnSpc>
                <a:spcPct val="200000"/>
              </a:lnSpc>
              <a:spcBef>
                <a:spcPts val="0"/>
              </a:spcBef>
            </a:pPr>
            <a:r>
              <a:rPr lang="en-IN" sz="2200" dirty="0">
                <a:latin typeface="Times New Roman" panose="02020603050405020304" pitchFamily="18" charset="0"/>
                <a:ea typeface="Cambria" panose="02040503050406030204" pitchFamily="18" charset="0"/>
                <a:cs typeface="Times New Roman" panose="02020603050405020304" pitchFamily="18" charset="0"/>
              </a:rPr>
              <a:t>Software and Hardware Components</a:t>
            </a:r>
            <a:endParaRPr lang="en-IN" sz="2200" dirty="0">
              <a:latin typeface="Times New Roman" panose="02020603050405020304" pitchFamily="18" charset="0"/>
              <a:ea typeface="Cambria" panose="02040503050406030204" pitchFamily="18" charset="0"/>
              <a:cs typeface="Times New Roman" panose="02020603050405020304" pitchFamily="18" charset="0"/>
            </a:endParaRPr>
          </a:p>
          <a:p>
            <a:pPr marL="495300" indent="-342900" algn="just">
              <a:lnSpc>
                <a:spcPct val="200000"/>
              </a:lnSpc>
              <a:spcBef>
                <a:spcPts val="0"/>
              </a:spcBef>
              <a:buFont typeface="Arial" panose="020B0604020202020204" pitchFamily="34" charset="0"/>
              <a:buChar char="•"/>
            </a:pPr>
            <a:r>
              <a:rPr lang="en-IN" sz="2200" dirty="0">
                <a:latin typeface="Times New Roman" panose="02020603050405020304" pitchFamily="18" charset="0"/>
                <a:ea typeface="Cambria" panose="02040503050406030204" pitchFamily="18" charset="0"/>
                <a:cs typeface="Times New Roman" panose="02020603050405020304" pitchFamily="18" charset="0"/>
              </a:rPr>
              <a:t>SDG Mapping</a:t>
            </a:r>
            <a:endParaRPr lang="en-IN" sz="2200" dirty="0">
              <a:latin typeface="Times New Roman" panose="02020603050405020304" pitchFamily="18" charset="0"/>
              <a:ea typeface="Cambria" panose="02040503050406030204" pitchFamily="18" charset="0"/>
              <a:cs typeface="Times New Roman" panose="02020603050405020304" pitchFamily="18" charset="0"/>
            </a:endParaRPr>
          </a:p>
          <a:p>
            <a:pPr marL="495300" indent="-342900" algn="just">
              <a:lnSpc>
                <a:spcPct val="200000"/>
              </a:lnSpc>
              <a:spcBef>
                <a:spcPts val="0"/>
              </a:spcBef>
              <a:buFont typeface="Arial" panose="020B0604020202020204" pitchFamily="34" charset="0"/>
              <a:buChar char="•"/>
            </a:pPr>
            <a:r>
              <a:rPr lang="en-IN" sz="2200">
                <a:latin typeface="Times New Roman" panose="02020603050405020304" pitchFamily="18" charset="0"/>
                <a:ea typeface="Cambria" panose="02040503050406030204" pitchFamily="18" charset="0"/>
                <a:cs typeface="Times New Roman" panose="02020603050405020304" pitchFamily="18" charset="0"/>
              </a:rPr>
              <a:t>Innovation / Novel Contributions</a:t>
            </a:r>
            <a:endParaRPr lang="en-IN" sz="2200" dirty="0">
              <a:latin typeface="Times New Roman" panose="02020603050405020304" pitchFamily="18" charset="0"/>
              <a:ea typeface="Cambria" panose="02040503050406030204" pitchFamily="18" charset="0"/>
              <a:cs typeface="Times New Roman" panose="02020603050405020304" pitchFamily="18" charset="0"/>
            </a:endParaRPr>
          </a:p>
          <a:p>
            <a:pPr marL="495300" indent="-342900" algn="just">
              <a:lnSpc>
                <a:spcPct val="200000"/>
              </a:lnSpc>
              <a:spcBef>
                <a:spcPts val="0"/>
              </a:spcBef>
              <a:buFont typeface="Arial" panose="020B0604020202020204" pitchFamily="34" charset="0"/>
              <a:buChar char="•"/>
            </a:pPr>
            <a:r>
              <a:rPr lang="en-IN" sz="2200" dirty="0">
                <a:latin typeface="Times New Roman" panose="02020603050405020304" pitchFamily="18" charset="0"/>
                <a:ea typeface="Cambria" panose="02040503050406030204" pitchFamily="18" charset="0"/>
                <a:cs typeface="Times New Roman" panose="02020603050405020304" pitchFamily="18" charset="0"/>
              </a:rPr>
              <a:t>Timeline (Gantt Chart)</a:t>
            </a:r>
            <a:endParaRPr lang="en-IN" sz="2200" dirty="0">
              <a:latin typeface="Times New Roman" panose="02020603050405020304" pitchFamily="18" charset="0"/>
              <a:ea typeface="Cambria" panose="02040503050406030204" pitchFamily="18" charset="0"/>
              <a:cs typeface="Times New Roman" panose="02020603050405020304" pitchFamily="18" charset="0"/>
            </a:endParaRPr>
          </a:p>
          <a:p>
            <a:pPr marL="495300" indent="-342900" algn="just">
              <a:lnSpc>
                <a:spcPct val="200000"/>
              </a:lnSpc>
              <a:spcBef>
                <a:spcPts val="0"/>
              </a:spcBef>
              <a:buFont typeface="Arial" panose="020B0604020202020204" pitchFamily="34" charset="0"/>
              <a:buChar char="•"/>
            </a:pPr>
            <a:r>
              <a:rPr lang="en-IN" sz="2200" dirty="0">
                <a:latin typeface="Times New Roman" panose="02020603050405020304" pitchFamily="18" charset="0"/>
                <a:ea typeface="Cambria" panose="02040503050406030204" pitchFamily="18" charset="0"/>
                <a:cs typeface="Times New Roman" panose="02020603050405020304" pitchFamily="18" charset="0"/>
              </a:rPr>
              <a:t>References</a:t>
            </a:r>
            <a:endParaRPr lang="en-IN" sz="2200" dirty="0">
              <a:latin typeface="Times New Roman" panose="02020603050405020304" pitchFamily="18" charset="0"/>
              <a:ea typeface="Cambria" panose="02040503050406030204" pitchFamily="18" charset="0"/>
              <a:cs typeface="Times New Roman" panose="02020603050405020304" pitchFamily="18" charset="0"/>
            </a:endParaRPr>
          </a:p>
          <a:p>
            <a:pPr marL="495300" indent="-342900" algn="just">
              <a:lnSpc>
                <a:spcPct val="200000"/>
              </a:lnSpc>
              <a:spcBef>
                <a:spcPts val="0"/>
              </a:spcBef>
              <a:buFont typeface="Arial" panose="020B0604020202020204" pitchFamily="34" charset="0"/>
              <a:buChar char="•"/>
            </a:pPr>
            <a:endParaRPr lang="en-US" sz="2000" dirty="0">
              <a:latin typeface="Times New Roman" panose="02020603050405020304" pitchFamily="18" charset="0"/>
              <a:ea typeface="Cambria" panose="02040503050406030204" pitchFamily="18" charset="0"/>
              <a:cs typeface="Times New Roman" panose="02020603050405020304" pitchFamily="18" charset="0"/>
            </a:endParaRPr>
          </a:p>
          <a:p>
            <a:pPr marL="76200" indent="0">
              <a:buNone/>
            </a:pPr>
            <a:endParaRPr lang="en-IN" sz="2000"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IN" dirty="0">
                <a:latin typeface="Times New Roman" panose="02020603050405020304" pitchFamily="18" charset="0"/>
                <a:ea typeface="Cambria" panose="02040503050406030204" pitchFamily="18" charset="0"/>
                <a:cs typeface="Times New Roman" panose="02020603050405020304" pitchFamily="18" charset="0"/>
              </a:rPr>
              <a:t>Abstract</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3" name="Text Placeholder 2"/>
          <p:cNvSpPr>
            <a:spLocks noGrp="1" noChangeArrowheads="1"/>
          </p:cNvSpPr>
          <p:nvPr>
            <p:ph type="body" idx="1"/>
          </p:nvPr>
        </p:nvSpPr>
        <p:spPr bwMode="auto">
          <a:xfrm>
            <a:off x="812800" y="1167539"/>
            <a:ext cx="10486570" cy="5015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76200" indent="0">
              <a:buNone/>
            </a:pPr>
            <a:r>
              <a:rPr lang="en-US" altLang="en-US" dirty="0">
                <a:latin typeface="Cambria" panose="02040503050406030204" pitchFamily="18" charset="0"/>
                <a:ea typeface="Cambria" panose="02040503050406030204" pitchFamily="18" charset="0"/>
              </a:rPr>
              <a:t>The National Education Policy (NEP) 2020 has introduced multidisciplinary and flexible academic programs such as B.Ed., M.Ed., and Four-Year Undergraduate Programmes (FYUP), increasing the complexity of academic timetable preparation. Managing multiple programs, shared faculty, and limited infrastructure through manual scheduling is inefficient and prone to conflicts, highlighting the need for an automated timetable generation system.</a:t>
            </a:r>
            <a:endParaRPr lang="en-US" altLang="en-US" dirty="0">
              <a:latin typeface="Cambria" panose="02040503050406030204" pitchFamily="18" charset="0"/>
              <a:ea typeface="Cambria" panose="02040503050406030204" pitchFamily="18" charset="0"/>
            </a:endParaRPr>
          </a:p>
          <a:p>
            <a:pPr marL="76200" indent="0">
              <a:buNone/>
            </a:pPr>
            <a:endParaRPr lang="en-US" altLang="en-US" dirty="0">
              <a:latin typeface="Cambria" panose="02040503050406030204" pitchFamily="18" charset="0"/>
              <a:ea typeface="Cambria" panose="02040503050406030204" pitchFamily="18" charset="0"/>
              <a:cs typeface="Times New Roman" panose="02020603050405020304" pitchFamily="18" charset="0"/>
            </a:endParaRPr>
          </a:p>
          <a:p>
            <a:pPr marL="76200" indent="0">
              <a:buNone/>
            </a:pPr>
            <a:r>
              <a:rPr lang="en-US" altLang="en-US" dirty="0">
                <a:latin typeface="Cambria" panose="02040503050406030204" pitchFamily="18" charset="0"/>
                <a:ea typeface="Cambria" panose="02040503050406030204" pitchFamily="18" charset="0"/>
                <a:cs typeface="Times New Roman" panose="02020603050405020304" pitchFamily="18" charset="0"/>
              </a:rPr>
              <a:t>This project proposes a web-based timetable generation system aligned with NEP 2020 that supports program-wise scheduling. The system enables input of course, faculty, and room details and generates separate timetables for each academic program using rule-based intelligent scheduling. By ensuring program-specific filtering and resource mapping, the system provides a scalable foundation for future AI-based optimization and backend integration.</a:t>
            </a:r>
            <a:endParaRPr lang="en-US" altLang="en-US" dirty="0">
              <a:latin typeface="Cambria" panose="020405030504060302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ea typeface="Cambria" panose="02040503050406030204" pitchFamily="18" charset="0"/>
                <a:cs typeface="Times New Roman" panose="02020603050405020304" pitchFamily="18" charset="0"/>
              </a:rPr>
              <a:t>Problem Statement</a:t>
            </a:r>
            <a:endParaRPr lang="en-IN"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812800" y="1186544"/>
            <a:ext cx="10668000" cy="4953000"/>
          </a:xfrm>
        </p:spPr>
        <p:txBody>
          <a:bodyPr/>
          <a:lstStyle/>
          <a:p>
            <a:pPr>
              <a:lnSpc>
                <a:spcPct val="50000"/>
              </a:lnSpc>
            </a:pPr>
            <a:r>
              <a:rPr lang="en-US" altLang="en-US" dirty="0">
                <a:latin typeface="Cambria" panose="02040503050406030204" pitchFamily="18" charset="0"/>
                <a:ea typeface="Cambria" panose="02040503050406030204" pitchFamily="18" charset="0"/>
              </a:rPr>
              <a:t>NEP 2020 introduces multidisciplinary and flexible academic structures</a:t>
            </a:r>
            <a:endParaRPr lang="en-US" altLang="en-US" dirty="0">
              <a:latin typeface="Cambria" panose="02040503050406030204" pitchFamily="18" charset="0"/>
              <a:ea typeface="Cambria" panose="02040503050406030204" pitchFamily="18" charset="0"/>
            </a:endParaRPr>
          </a:p>
          <a:p>
            <a:pPr>
              <a:lnSpc>
                <a:spcPct val="50000"/>
              </a:lnSpc>
            </a:pPr>
            <a:endParaRPr lang="en-US" altLang="en-US" dirty="0">
              <a:latin typeface="Cambria" panose="02040503050406030204" pitchFamily="18" charset="0"/>
              <a:ea typeface="Cambria" panose="02040503050406030204" pitchFamily="18" charset="0"/>
            </a:endParaRPr>
          </a:p>
          <a:p>
            <a:pPr>
              <a:lnSpc>
                <a:spcPct val="50000"/>
              </a:lnSpc>
            </a:pPr>
            <a:r>
              <a:rPr lang="en-US" altLang="en-US" dirty="0">
                <a:latin typeface="Cambria" panose="02040503050406030204" pitchFamily="18" charset="0"/>
                <a:ea typeface="Cambria" panose="02040503050406030204" pitchFamily="18" charset="0"/>
              </a:rPr>
              <a:t>Multiple programs require separate, conflict-free timetables</a:t>
            </a:r>
            <a:endParaRPr lang="en-US" altLang="en-US" dirty="0">
              <a:latin typeface="Cambria" panose="02040503050406030204" pitchFamily="18" charset="0"/>
              <a:ea typeface="Cambria" panose="02040503050406030204" pitchFamily="18" charset="0"/>
            </a:endParaRPr>
          </a:p>
          <a:p>
            <a:pPr>
              <a:lnSpc>
                <a:spcPct val="50000"/>
              </a:lnSpc>
            </a:pPr>
            <a:endParaRPr lang="en-US" altLang="en-US" dirty="0">
              <a:latin typeface="Cambria" panose="02040503050406030204" pitchFamily="18" charset="0"/>
              <a:ea typeface="Cambria" panose="02040503050406030204" pitchFamily="18" charset="0"/>
            </a:endParaRPr>
          </a:p>
          <a:p>
            <a:pPr>
              <a:lnSpc>
                <a:spcPct val="50000"/>
              </a:lnSpc>
            </a:pPr>
            <a:r>
              <a:rPr lang="en-US" altLang="en-US" dirty="0">
                <a:latin typeface="Cambria" panose="02040503050406030204" pitchFamily="18" charset="0"/>
                <a:ea typeface="Cambria" panose="02040503050406030204" pitchFamily="18" charset="0"/>
              </a:rPr>
              <a:t>Manual timetable preparation is time-consuming and prone to errors</a:t>
            </a:r>
            <a:endParaRPr lang="en-US" altLang="en-US" dirty="0">
              <a:latin typeface="Cambria" panose="02040503050406030204" pitchFamily="18" charset="0"/>
              <a:ea typeface="Cambria" panose="02040503050406030204" pitchFamily="18" charset="0"/>
            </a:endParaRPr>
          </a:p>
          <a:p>
            <a:pPr>
              <a:lnSpc>
                <a:spcPct val="50000"/>
              </a:lnSpc>
            </a:pPr>
            <a:endParaRPr lang="en-US" altLang="en-US" dirty="0">
              <a:latin typeface="Cambria" panose="02040503050406030204" pitchFamily="18" charset="0"/>
              <a:ea typeface="Cambria" panose="02040503050406030204" pitchFamily="18" charset="0"/>
            </a:endParaRPr>
          </a:p>
          <a:p>
            <a:pPr>
              <a:lnSpc>
                <a:spcPct val="50000"/>
              </a:lnSpc>
            </a:pPr>
            <a:r>
              <a:rPr lang="en-US" altLang="en-US" dirty="0">
                <a:latin typeface="Cambria" panose="02040503050406030204" pitchFamily="18" charset="0"/>
                <a:ea typeface="Cambria" panose="02040503050406030204" pitchFamily="18" charset="0"/>
              </a:rPr>
              <a:t>Difficulty in managing faculty, courses, and classrooms efficiently</a:t>
            </a:r>
            <a:endParaRPr lang="en-US" altLang="en-US" dirty="0">
              <a:latin typeface="Cambria" panose="02040503050406030204" pitchFamily="18" charset="0"/>
              <a:ea typeface="Cambria" panose="02040503050406030204" pitchFamily="18" charset="0"/>
            </a:endParaRPr>
          </a:p>
          <a:p>
            <a:pPr>
              <a:lnSpc>
                <a:spcPct val="50000"/>
              </a:lnSpc>
            </a:pPr>
            <a:endParaRPr lang="en-US" altLang="en-US" dirty="0">
              <a:latin typeface="Cambria" panose="02040503050406030204" pitchFamily="18" charset="0"/>
              <a:ea typeface="Cambria" panose="02040503050406030204" pitchFamily="18" charset="0"/>
            </a:endParaRPr>
          </a:p>
          <a:p>
            <a:pPr>
              <a:lnSpc>
                <a:spcPct val="50000"/>
              </a:lnSpc>
            </a:pPr>
            <a:r>
              <a:rPr lang="en-US" altLang="en-US" dirty="0">
                <a:latin typeface="Cambria" panose="02040503050406030204" pitchFamily="18" charset="0"/>
                <a:ea typeface="Cambria" panose="02040503050406030204" pitchFamily="18" charset="0"/>
              </a:rPr>
              <a:t>Lack of program-wise filtering and automation in traditional systems</a:t>
            </a:r>
            <a:endParaRPr lang="en-US" altLang="en-US" dirty="0">
              <a:latin typeface="Cambria" panose="02040503050406030204" pitchFamily="18" charset="0"/>
              <a:ea typeface="Cambria" panose="02040503050406030204" pitchFamily="18" charset="0"/>
            </a:endParaRPr>
          </a:p>
          <a:p>
            <a:pPr>
              <a:lnSpc>
                <a:spcPct val="50000"/>
              </a:lnSpc>
            </a:pPr>
            <a:endParaRPr lang="en-US" altLang="en-US" dirty="0">
              <a:latin typeface="Cambria" panose="02040503050406030204" pitchFamily="18" charset="0"/>
              <a:ea typeface="Cambria" panose="02040503050406030204" pitchFamily="18" charset="0"/>
            </a:endParaRPr>
          </a:p>
          <a:p>
            <a:pPr>
              <a:lnSpc>
                <a:spcPct val="50000"/>
              </a:lnSpc>
            </a:pPr>
            <a:r>
              <a:rPr lang="en-US" altLang="en-US" dirty="0">
                <a:latin typeface="Cambria" panose="02040503050406030204" pitchFamily="18" charset="0"/>
                <a:ea typeface="Cambria" panose="02040503050406030204" pitchFamily="18" charset="0"/>
              </a:rPr>
              <a:t>Need for a centralized and scalable timetable generation solution</a:t>
            </a:r>
            <a:endParaRPr lang="en-US" altLang="en-US" dirty="0">
              <a:latin typeface="Cambria" panose="02040503050406030204" pitchFamily="18" charset="0"/>
              <a:ea typeface="Cambria" panose="02040503050406030204" pitchFamily="18" charset="0"/>
            </a:endParaRPr>
          </a:p>
          <a:p>
            <a:pPr marL="76200" indent="0">
              <a:buNone/>
            </a:pPr>
            <a:endParaRPr lang="en-IN" dirty="0">
              <a:latin typeface="Cambria" panose="020405030504060302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IN" dirty="0">
                <a:latin typeface="Times New Roman" panose="02020603050405020304" pitchFamily="18" charset="0"/>
                <a:ea typeface="Cambria" panose="02040503050406030204" pitchFamily="18" charset="0"/>
                <a:cs typeface="Times New Roman" panose="02020603050405020304" pitchFamily="18" charset="0"/>
              </a:rPr>
              <a:t>Objectives</a:t>
            </a:r>
            <a:endParaRPr lang="en-US"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4" name="Text Placeholder 3"/>
          <p:cNvSpPr>
            <a:spLocks noGrp="1" noChangeArrowheads="1"/>
          </p:cNvSpPr>
          <p:nvPr>
            <p:ph type="body" idx="1"/>
          </p:nvPr>
        </p:nvSpPr>
        <p:spPr bwMode="auto">
          <a:xfrm>
            <a:off x="812800" y="1024798"/>
            <a:ext cx="10668000" cy="51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342900" indent="-342900" eaLnBrk="0" fontAlgn="base" hangingPunct="0">
              <a:lnSpc>
                <a:spcPct val="90000"/>
              </a:lnSpc>
              <a:spcBef>
                <a:spcPct val="0"/>
              </a:spcBef>
              <a:spcAft>
                <a:spcPct val="0"/>
              </a:spcAft>
              <a:buClrTx/>
              <a:buSzTx/>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design an automated timetable generation system compliant with NEP 2020</a:t>
            </a: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342900" indent="-342900" eaLnBrk="0" fontAlgn="base" hangingPunct="0">
              <a:lnSpc>
                <a:spcPct val="70000"/>
              </a:lnSpc>
              <a:spcBef>
                <a:spcPct val="0"/>
              </a:spcBef>
              <a:spcAft>
                <a:spcPct val="0"/>
              </a:spcAft>
              <a:buClrTx/>
              <a:buSzTx/>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342900" indent="-342900" eaLnBrk="0" fontAlgn="base" hangingPunct="0">
              <a:lnSpc>
                <a:spcPct val="70000"/>
              </a:lnSpc>
              <a:spcBef>
                <a:spcPct val="0"/>
              </a:spcBef>
              <a:spcAft>
                <a:spcPct val="0"/>
              </a:spcAft>
              <a:buClrTx/>
              <a:buSzTx/>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support multiple academic programs such as B.Ed., M.Ed., FYUP, and ITEP</a:t>
            </a: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342900" indent="-342900" eaLnBrk="0" fontAlgn="base" hangingPunct="0">
              <a:lnSpc>
                <a:spcPct val="70000"/>
              </a:lnSpc>
              <a:spcBef>
                <a:spcPct val="0"/>
              </a:spcBef>
              <a:spcAft>
                <a:spcPct val="0"/>
              </a:spcAft>
              <a:buClrTx/>
              <a:buSzTx/>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342900" indent="-342900" eaLnBrk="0" fontAlgn="base" hangingPunct="0">
              <a:lnSpc>
                <a:spcPct val="70000"/>
              </a:lnSpc>
              <a:spcBef>
                <a:spcPct val="0"/>
              </a:spcBef>
              <a:spcAft>
                <a:spcPct val="0"/>
              </a:spcAft>
              <a:buClrTx/>
              <a:buSzTx/>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enable program-wise course, faculty, student, and room management</a:t>
            </a: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342900" indent="-342900" eaLnBrk="0" fontAlgn="base" hangingPunct="0">
              <a:lnSpc>
                <a:spcPct val="70000"/>
              </a:lnSpc>
              <a:spcBef>
                <a:spcPct val="0"/>
              </a:spcBef>
              <a:spcAft>
                <a:spcPct val="0"/>
              </a:spcAft>
              <a:buClrTx/>
              <a:buSzTx/>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342900" indent="-342900" eaLnBrk="0" fontAlgn="base" hangingPunct="0">
              <a:lnSpc>
                <a:spcPct val="70000"/>
              </a:lnSpc>
              <a:spcBef>
                <a:spcPct val="0"/>
              </a:spcBef>
              <a:spcAft>
                <a:spcPct val="0"/>
              </a:spcAft>
              <a:buClrTx/>
              <a:buSzTx/>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generate conflict-free timetables based on available resources</a:t>
            </a: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342900" indent="-342900" eaLnBrk="0" fontAlgn="base" hangingPunct="0">
              <a:lnSpc>
                <a:spcPct val="70000"/>
              </a:lnSpc>
              <a:spcBef>
                <a:spcPct val="0"/>
              </a:spcBef>
              <a:spcAft>
                <a:spcPct val="0"/>
              </a:spcAft>
              <a:buClrTx/>
              <a:buSzTx/>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342900" indent="-342900" eaLnBrk="0" fontAlgn="base" hangingPunct="0">
              <a:lnSpc>
                <a:spcPct val="70000"/>
              </a:lnSpc>
              <a:spcBef>
                <a:spcPct val="0"/>
              </a:spcBef>
              <a:spcAft>
                <a:spcPct val="0"/>
              </a:spcAft>
              <a:buClrTx/>
              <a:buSzTx/>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provide filtering of timetables based on selected programs</a:t>
            </a: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342900" indent="-342900" eaLnBrk="0" fontAlgn="base" hangingPunct="0">
              <a:lnSpc>
                <a:spcPct val="70000"/>
              </a:lnSpc>
              <a:spcBef>
                <a:spcPct val="0"/>
              </a:spcBef>
              <a:spcAft>
                <a:spcPct val="0"/>
              </a:spcAft>
              <a:buClrTx/>
              <a:buSzTx/>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342900" indent="-342900" eaLnBrk="0" fontAlgn="base" hangingPunct="0">
              <a:lnSpc>
                <a:spcPct val="70000"/>
              </a:lnSpc>
              <a:spcBef>
                <a:spcPct val="0"/>
              </a:spcBef>
              <a:spcAft>
                <a:spcPct val="0"/>
              </a:spcAft>
              <a:buClrTx/>
              <a:buSzTx/>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reduce manual effort and errors in timetable preparation</a:t>
            </a: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indent="0" eaLnBrk="0" fontAlgn="base" hangingPunct="0">
              <a:lnSpc>
                <a:spcPct val="70000"/>
              </a:lnSpc>
              <a:spcBef>
                <a:spcPct val="0"/>
              </a:spcBef>
              <a:spcAft>
                <a:spcPct val="0"/>
              </a:spcAft>
              <a:buClrTx/>
              <a:buSzTx/>
              <a:buNone/>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342900" indent="-342900" eaLnBrk="0" fontAlgn="base" hangingPunct="0">
              <a:lnSpc>
                <a:spcPct val="90000"/>
              </a:lnSpc>
              <a:spcBef>
                <a:spcPct val="0"/>
              </a:spcBef>
              <a:spcAft>
                <a:spcPct val="0"/>
              </a:spcAft>
              <a:buClrTx/>
              <a:buSzTx/>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develop a scalable frontend architecture with future backend and AI integration</a:t>
            </a: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342900" indent="-342900" eaLnBrk="0" fontAlgn="base" hangingPunct="0">
              <a:lnSpc>
                <a:spcPct val="70000"/>
              </a:lnSpc>
              <a:spcBef>
                <a:spcPct val="0"/>
              </a:spcBef>
              <a:spcAft>
                <a:spcPct val="0"/>
              </a:spcAft>
              <a:buClrTx/>
              <a:buSzTx/>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342900" indent="-342900" eaLnBrk="0" fontAlgn="base" hangingPunct="0">
              <a:lnSpc>
                <a:spcPct val="90000"/>
              </a:lnSpc>
              <a:spcBef>
                <a:spcPct val="0"/>
              </a:spcBef>
              <a:spcAft>
                <a:spcPct val="0"/>
              </a:spcAft>
              <a:buClrTx/>
              <a:buSzTx/>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improve transparency and usability through an interactive web-based interface</a:t>
            </a: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
        <p:nvSpPr>
          <p:cNvPr id="5" name="Rectangle 4"/>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9257" y="350838"/>
            <a:ext cx="10668000" cy="487500"/>
          </a:xfrm>
        </p:spPr>
        <p:txBody>
          <a:bodyPr/>
          <a:lstStyle/>
          <a:p>
            <a:r>
              <a:rPr lang="en-IN" dirty="0">
                <a:latin typeface="Times New Roman" panose="02020603050405020304" pitchFamily="18" charset="0"/>
                <a:ea typeface="Cambria" panose="02040503050406030204" pitchFamily="18" charset="0"/>
                <a:cs typeface="Times New Roman" panose="02020603050405020304" pitchFamily="18" charset="0"/>
              </a:rPr>
              <a:t>Literature Survey </a:t>
            </a:r>
            <a:endParaRPr lang="en-IN"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769257" y="1099457"/>
            <a:ext cx="10668000" cy="5072744"/>
          </a:xfrm>
        </p:spPr>
        <p:txBody>
          <a:bodyPr/>
          <a:lstStyle/>
          <a:p>
            <a:pPr marL="76200" indent="0">
              <a:buNone/>
            </a:pPr>
            <a:r>
              <a:rPr lang="en-US" altLang="en-US" dirty="0">
                <a:latin typeface="Cambria" panose="02040503050406030204" pitchFamily="18" charset="0"/>
                <a:ea typeface="Cambria" panose="02040503050406030204" pitchFamily="18" charset="0"/>
                <a:cs typeface="Times New Roman" panose="02020603050405020304" pitchFamily="18" charset="0"/>
              </a:rPr>
              <a:t>A review of existing research and techniques related to automated and AI-based timetable generation systems.</a:t>
            </a:r>
            <a:endParaRPr lang="en-US" altLang="en-US" dirty="0">
              <a:latin typeface="Cambria" panose="02040503050406030204" pitchFamily="18" charset="0"/>
              <a:ea typeface="Cambria" panose="02040503050406030204" pitchFamily="18" charset="0"/>
              <a:cs typeface="Times New Roman" panose="02020603050405020304" pitchFamily="18" charset="0"/>
            </a:endParaRPr>
          </a:p>
          <a:p>
            <a:pPr marL="76200" indent="0">
              <a:buNone/>
            </a:pPr>
            <a:endParaRPr lang="en-US" dirty="0">
              <a:latin typeface="Cambria" panose="02040503050406030204" pitchFamily="18" charset="0"/>
              <a:ea typeface="Cambria" panose="02040503050406030204" pitchFamily="18" charset="0"/>
              <a:cs typeface="Times New Roman" panose="02020603050405020304" pitchFamily="18" charset="0"/>
            </a:endParaRPr>
          </a:p>
          <a:p>
            <a:pPr marL="76200" indent="0">
              <a:buNone/>
            </a:pPr>
            <a:endParaRPr lang="en-US" dirty="0">
              <a:latin typeface="Cambria" panose="02040503050406030204" pitchFamily="18" charset="0"/>
              <a:ea typeface="Cambria" panose="02040503050406030204" pitchFamily="18" charset="0"/>
              <a:cs typeface="Times New Roman" panose="02020603050405020304" pitchFamily="18" charset="0"/>
            </a:endParaRPr>
          </a:p>
        </p:txBody>
      </p:sp>
      <p:graphicFrame>
        <p:nvGraphicFramePr>
          <p:cNvPr id="10" name="Table 9"/>
          <p:cNvGraphicFramePr>
            <a:graphicFrameLocks noGrp="1"/>
          </p:cNvGraphicFramePr>
          <p:nvPr/>
        </p:nvGraphicFramePr>
        <p:xfrm>
          <a:off x="968828" y="2188029"/>
          <a:ext cx="10468428" cy="3803338"/>
        </p:xfrm>
        <a:graphic>
          <a:graphicData uri="http://schemas.openxmlformats.org/drawingml/2006/table">
            <a:tbl>
              <a:tblPr firstRow="1" bandRow="1"/>
              <a:tblGrid>
                <a:gridCol w="1034143"/>
                <a:gridCol w="3026229"/>
                <a:gridCol w="1197428"/>
                <a:gridCol w="2699658"/>
                <a:gridCol w="2510970"/>
              </a:tblGrid>
              <a:tr h="724988">
                <a:tc>
                  <a:txBody>
                    <a:bodyPr/>
                    <a:lstStyle/>
                    <a:p>
                      <a:pPr>
                        <a:buNone/>
                      </a:pPr>
                      <a:r>
                        <a:rPr lang="en-IN" sz="1800" b="1" dirty="0">
                          <a:latin typeface="Cambria" panose="02040503050406030204" pitchFamily="18" charset="0"/>
                          <a:ea typeface="Cambria" panose="02040503050406030204" pitchFamily="18" charset="0"/>
                          <a:cs typeface="Times New Roman" panose="02020603050405020304" pitchFamily="18" charset="0"/>
                        </a:rPr>
                        <a:t>Sl. No</a:t>
                      </a:r>
                      <a:endParaRPr lang="en-IN" sz="1800" b="1" dirty="0">
                        <a:latin typeface="Cambria" panose="02040503050406030204" pitchFamily="18" charset="0"/>
                        <a:ea typeface="Cambria" panose="02040503050406030204" pitchFamily="18" charset="0"/>
                        <a:cs typeface="Times New Roman" panose="02020603050405020304" pitchFamily="18" charset="0"/>
                      </a:endParaRPr>
                    </a:p>
                  </a:txBody>
                  <a:tcPr anchor="ctr"/>
                </a:tc>
                <a:tc>
                  <a:txBody>
                    <a:bodyPr/>
                    <a:lstStyle/>
                    <a:p>
                      <a:endParaRPr lang="en-IN" sz="1800" b="1" dirty="0">
                        <a:latin typeface="Cambria" panose="02040503050406030204" pitchFamily="18" charset="0"/>
                        <a:ea typeface="Cambria" panose="02040503050406030204" pitchFamily="18" charset="0"/>
                        <a:cs typeface="Times New Roman" panose="02020603050405020304" pitchFamily="18" charset="0"/>
                      </a:endParaRPr>
                    </a:p>
                    <a:p>
                      <a:r>
                        <a:rPr lang="en-IN" sz="1800" b="1" dirty="0">
                          <a:latin typeface="Cambria" panose="02040503050406030204" pitchFamily="18" charset="0"/>
                          <a:ea typeface="Cambria" panose="02040503050406030204" pitchFamily="18" charset="0"/>
                          <a:cs typeface="Times New Roman" panose="02020603050405020304" pitchFamily="18" charset="0"/>
                        </a:rPr>
                        <a:t>      Authors &amp;              Reference Title</a:t>
                      </a:r>
                      <a:endParaRPr lang="en-IN" sz="1800"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endParaRPr lang="en-IN" sz="1800" b="1" dirty="0">
                        <a:latin typeface="Cambria" panose="02040503050406030204" pitchFamily="18" charset="0"/>
                        <a:ea typeface="Cambria" panose="02040503050406030204" pitchFamily="18" charset="0"/>
                        <a:cs typeface="Times New Roman" panose="02020603050405020304" pitchFamily="18" charset="0"/>
                      </a:endParaRPr>
                    </a:p>
                    <a:p>
                      <a:r>
                        <a:rPr lang="en-IN" sz="1800" b="1" dirty="0">
                          <a:latin typeface="Cambria" panose="02040503050406030204" pitchFamily="18" charset="0"/>
                          <a:ea typeface="Cambria" panose="02040503050406030204" pitchFamily="18" charset="0"/>
                          <a:cs typeface="Times New Roman" panose="02020603050405020304" pitchFamily="18" charset="0"/>
                        </a:rPr>
                        <a:t>   Year</a:t>
                      </a:r>
                      <a:endParaRPr lang="en-IN" sz="1800"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endParaRPr lang="en-IN" sz="1800" b="1" dirty="0">
                        <a:latin typeface="Cambria" panose="02040503050406030204" pitchFamily="18" charset="0"/>
                        <a:ea typeface="Cambria" panose="02040503050406030204" pitchFamily="18" charset="0"/>
                        <a:cs typeface="Times New Roman" panose="02020603050405020304" pitchFamily="18" charset="0"/>
                      </a:endParaRPr>
                    </a:p>
                    <a:p>
                      <a:r>
                        <a:rPr lang="en-IN" sz="1800" b="1" dirty="0">
                          <a:latin typeface="Cambria" panose="02040503050406030204" pitchFamily="18" charset="0"/>
                          <a:ea typeface="Cambria" panose="02040503050406030204" pitchFamily="18" charset="0"/>
                          <a:cs typeface="Times New Roman" panose="02020603050405020304" pitchFamily="18" charset="0"/>
                        </a:rPr>
                        <a:t>         Benefits </a:t>
                      </a:r>
                      <a:endParaRPr lang="en-IN" sz="1800"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endParaRPr lang="en-IN" sz="1800" b="1" dirty="0">
                        <a:latin typeface="Cambria" panose="02040503050406030204" pitchFamily="18" charset="0"/>
                        <a:ea typeface="Cambria" panose="02040503050406030204" pitchFamily="18" charset="0"/>
                        <a:cs typeface="Times New Roman" panose="02020603050405020304" pitchFamily="18" charset="0"/>
                      </a:endParaRPr>
                    </a:p>
                    <a:p>
                      <a:r>
                        <a:rPr lang="en-IN" sz="1800" b="1" dirty="0">
                          <a:latin typeface="Cambria" panose="02040503050406030204" pitchFamily="18" charset="0"/>
                          <a:ea typeface="Cambria" panose="02040503050406030204" pitchFamily="18" charset="0"/>
                          <a:cs typeface="Times New Roman" panose="02020603050405020304" pitchFamily="18" charset="0"/>
                        </a:rPr>
                        <a:t>      Limitations</a:t>
                      </a:r>
                      <a:endParaRPr lang="en-IN" sz="1800" b="1" dirty="0">
                        <a:latin typeface="Cambria" panose="02040503050406030204" pitchFamily="18" charset="0"/>
                        <a:ea typeface="Cambria" panose="02040503050406030204" pitchFamily="18" charset="0"/>
                        <a:cs typeface="Times New Roman" panose="02020603050405020304" pitchFamily="18" charset="0"/>
                      </a:endParaRPr>
                    </a:p>
                  </a:txBody>
                  <a:tcPr/>
                </a:tc>
              </a:tr>
              <a:tr h="712949">
                <a:tc>
                  <a:txBody>
                    <a:bodyPr/>
                    <a:lstStyle/>
                    <a:p>
                      <a:pPr>
                        <a:buNone/>
                      </a:pPr>
                      <a:r>
                        <a:rPr lang="en-IN">
                          <a:latin typeface="Cambria" panose="02040503050406030204" pitchFamily="18" charset="0"/>
                          <a:ea typeface="Cambria" panose="02040503050406030204" pitchFamily="18" charset="0"/>
                        </a:rPr>
                        <a:t>1</a:t>
                      </a:r>
                      <a:endParaRPr lang="en-IN">
                        <a:latin typeface="Cambria" panose="02040503050406030204" pitchFamily="18" charset="0"/>
                        <a:ea typeface="Cambria" panose="02040503050406030204" pitchFamily="18" charset="0"/>
                      </a:endParaRPr>
                    </a:p>
                  </a:txBody>
                  <a:tcPr anchor="ctr"/>
                </a:tc>
                <a:tc>
                  <a:txBody>
                    <a:bodyPr/>
                    <a:lstStyle/>
                    <a:p>
                      <a:pPr>
                        <a:buNone/>
                      </a:pPr>
                      <a:r>
                        <a:rPr lang="en-US" altLang="en-US">
                          <a:latin typeface="Cambria" panose="02040503050406030204" pitchFamily="18" charset="0"/>
                          <a:ea typeface="Cambria" panose="02040503050406030204" pitchFamily="18" charset="0"/>
                        </a:rPr>
                        <a:t>N. R. Joshi and T. V. Agarwal, Optimizing University Course Timetabling Using Constraint Satisfaction Models</a:t>
                      </a:r>
                      <a:endParaRPr lang="en-US" altLang="en-US">
                        <a:latin typeface="Cambria" panose="02040503050406030204" pitchFamily="18" charset="0"/>
                        <a:ea typeface="Cambria" panose="02040503050406030204" pitchFamily="18" charset="0"/>
                      </a:endParaRPr>
                    </a:p>
                  </a:txBody>
                  <a:tcPr anchor="ctr"/>
                </a:tc>
                <a:tc>
                  <a:txBody>
                    <a:bodyPr/>
                    <a:lstStyle/>
                    <a:p>
                      <a:pPr>
                        <a:buNone/>
                      </a:pPr>
                      <a:r>
                        <a:rPr lang="en-US" altLang="en-US">
                          <a:latin typeface="Cambria" panose="02040503050406030204" pitchFamily="18" charset="0"/>
                          <a:ea typeface="Cambria" panose="02040503050406030204" pitchFamily="18" charset="0"/>
                        </a:rPr>
                        <a:t>2023</a:t>
                      </a:r>
                      <a:endParaRPr lang="en-US" altLang="en-US">
                        <a:latin typeface="Cambria" panose="02040503050406030204" pitchFamily="18" charset="0"/>
                        <a:ea typeface="Cambria" panose="02040503050406030204" pitchFamily="18" charset="0"/>
                      </a:endParaRPr>
                    </a:p>
                  </a:txBody>
                  <a:tcPr anchor="ctr"/>
                </a:tc>
                <a:tc>
                  <a:txBody>
                    <a:bodyPr/>
                    <a:lstStyle/>
                    <a:p>
                      <a:pPr>
                        <a:buNone/>
                      </a:pPr>
                      <a:r>
                        <a:rPr lang="en-US" altLang="en-US">
                          <a:latin typeface="Cambria" panose="02040503050406030204" pitchFamily="18" charset="0"/>
                          <a:ea typeface="Cambria" panose="02040503050406030204" pitchFamily="18" charset="0"/>
                        </a:rPr>
                        <a:t>Uses constraint satisfaction to reduce timetable conflicts and improve scheduling efficiency</a:t>
                      </a:r>
                      <a:endParaRPr lang="en-US" altLang="en-US">
                        <a:latin typeface="Cambria" panose="02040503050406030204" pitchFamily="18" charset="0"/>
                        <a:ea typeface="Cambria" panose="02040503050406030204" pitchFamily="18" charset="0"/>
                      </a:endParaRPr>
                    </a:p>
                  </a:txBody>
                  <a:tcPr anchor="ctr"/>
                </a:tc>
                <a:tc>
                  <a:txBody>
                    <a:bodyPr/>
                    <a:lstStyle/>
                    <a:p>
                      <a:pPr>
                        <a:buNone/>
                      </a:pPr>
                      <a:r>
                        <a:rPr lang="en-US" altLang="en-US" dirty="0">
                          <a:latin typeface="Cambria" panose="02040503050406030204" pitchFamily="18" charset="0"/>
                          <a:ea typeface="Cambria" panose="02040503050406030204" pitchFamily="18" charset="0"/>
                        </a:rPr>
                        <a:t>Limited scalability for large multidisciplinary institutions</a:t>
                      </a:r>
                      <a:endParaRPr lang="en-US" altLang="en-US" dirty="0">
                        <a:latin typeface="Cambria" panose="02040503050406030204" pitchFamily="18" charset="0"/>
                        <a:ea typeface="Cambria" panose="02040503050406030204" pitchFamily="18" charset="0"/>
                      </a:endParaRPr>
                    </a:p>
                  </a:txBody>
                  <a:tcPr anchor="ctr"/>
                </a:tc>
              </a:tr>
              <a:tr h="712949">
                <a:tc>
                  <a:txBody>
                    <a:bodyPr/>
                    <a:lstStyle/>
                    <a:p>
                      <a:pPr>
                        <a:buNone/>
                      </a:pPr>
                      <a:r>
                        <a:rPr lang="en-IN">
                          <a:latin typeface="Cambria" panose="02040503050406030204" pitchFamily="18" charset="0"/>
                          <a:ea typeface="Cambria" panose="02040503050406030204" pitchFamily="18" charset="0"/>
                        </a:rPr>
                        <a:t>2</a:t>
                      </a:r>
                      <a:endParaRPr lang="en-IN">
                        <a:latin typeface="Cambria" panose="02040503050406030204" pitchFamily="18" charset="0"/>
                        <a:ea typeface="Cambria" panose="02040503050406030204" pitchFamily="18" charset="0"/>
                      </a:endParaRPr>
                    </a:p>
                  </a:txBody>
                  <a:tcPr anchor="ctr"/>
                </a:tc>
                <a:tc>
                  <a:txBody>
                    <a:bodyPr/>
                    <a:lstStyle/>
                    <a:p>
                      <a:pPr>
                        <a:buNone/>
                      </a:pPr>
                      <a:r>
                        <a:rPr lang="en-US" altLang="en-US" dirty="0">
                          <a:latin typeface="Cambria" panose="02040503050406030204" pitchFamily="18" charset="0"/>
                          <a:ea typeface="Cambria" panose="02040503050406030204" pitchFamily="18" charset="0"/>
                        </a:rPr>
                        <a:t>R. P. Badoni et al., Metaheuristic Approach for University Course Timetabling Problems</a:t>
                      </a:r>
                      <a:endParaRPr lang="en-US" altLang="en-US" dirty="0">
                        <a:latin typeface="Cambria" panose="02040503050406030204" pitchFamily="18" charset="0"/>
                        <a:ea typeface="Cambria" panose="02040503050406030204" pitchFamily="18" charset="0"/>
                      </a:endParaRPr>
                    </a:p>
                  </a:txBody>
                  <a:tcPr anchor="ctr"/>
                </a:tc>
                <a:tc>
                  <a:txBody>
                    <a:bodyPr/>
                    <a:lstStyle/>
                    <a:p>
                      <a:pPr>
                        <a:buNone/>
                      </a:pPr>
                      <a:r>
                        <a:rPr lang="en-IN" dirty="0">
                          <a:latin typeface="Cambria" panose="02040503050406030204" pitchFamily="18" charset="0"/>
                          <a:ea typeface="Cambria" panose="02040503050406030204" pitchFamily="18" charset="0"/>
                        </a:rPr>
                        <a:t>2023</a:t>
                      </a:r>
                      <a:endParaRPr lang="en-IN" dirty="0">
                        <a:latin typeface="Cambria" panose="02040503050406030204" pitchFamily="18" charset="0"/>
                        <a:ea typeface="Cambria" panose="02040503050406030204" pitchFamily="18" charset="0"/>
                      </a:endParaRPr>
                    </a:p>
                  </a:txBody>
                  <a:tcPr anchor="ctr"/>
                </a:tc>
                <a:tc>
                  <a:txBody>
                    <a:bodyPr/>
                    <a:lstStyle/>
                    <a:p>
                      <a:pPr>
                        <a:buNone/>
                      </a:pPr>
                      <a:r>
                        <a:rPr lang="en-US" altLang="en-US" dirty="0">
                          <a:latin typeface="Cambria" panose="02040503050406030204" pitchFamily="18" charset="0"/>
                          <a:ea typeface="Cambria" panose="02040503050406030204" pitchFamily="18" charset="0"/>
                        </a:rPr>
                        <a:t>Combines exploration and exploitation strategies for better optimization</a:t>
                      </a:r>
                      <a:endParaRPr lang="en-US" altLang="en-US" dirty="0">
                        <a:latin typeface="Cambria" panose="02040503050406030204" pitchFamily="18" charset="0"/>
                        <a:ea typeface="Cambria" panose="02040503050406030204" pitchFamily="18" charset="0"/>
                      </a:endParaRPr>
                    </a:p>
                  </a:txBody>
                  <a:tcPr anchor="ctr"/>
                </a:tc>
                <a:tc>
                  <a:txBody>
                    <a:bodyPr/>
                    <a:lstStyle/>
                    <a:p>
                      <a:pPr>
                        <a:buNone/>
                      </a:pPr>
                      <a:r>
                        <a:rPr lang="en-US" altLang="en-US" dirty="0">
                          <a:latin typeface="Cambria" panose="02040503050406030204" pitchFamily="18" charset="0"/>
                          <a:ea typeface="Cambria" panose="02040503050406030204" pitchFamily="18" charset="0"/>
                        </a:rPr>
                        <a:t>High computational cost and complexity</a:t>
                      </a:r>
                      <a:endParaRPr lang="en-US" altLang="en-US" dirty="0">
                        <a:latin typeface="Cambria" panose="02040503050406030204" pitchFamily="18" charset="0"/>
                        <a:ea typeface="Cambria" panose="02040503050406030204" pitchFamily="18" charset="0"/>
                      </a:endParaRPr>
                    </a:p>
                  </a:txBody>
                  <a:tcPr anchor="ctr"/>
                </a:tc>
              </a:tr>
              <a:tr h="712949">
                <a:tc>
                  <a:txBody>
                    <a:bodyPr/>
                    <a:lstStyle/>
                    <a:p>
                      <a:pPr>
                        <a:buNone/>
                      </a:pPr>
                      <a:r>
                        <a:rPr lang="en-IN" dirty="0">
                          <a:latin typeface="Cambria" panose="02040503050406030204" pitchFamily="18" charset="0"/>
                          <a:ea typeface="Cambria" panose="02040503050406030204" pitchFamily="18" charset="0"/>
                        </a:rPr>
                        <a:t>3</a:t>
                      </a:r>
                      <a:endParaRPr lang="en-IN" dirty="0">
                        <a:latin typeface="Cambria" panose="02040503050406030204" pitchFamily="18" charset="0"/>
                        <a:ea typeface="Cambria" panose="02040503050406030204" pitchFamily="18" charset="0"/>
                      </a:endParaRPr>
                    </a:p>
                  </a:txBody>
                  <a:tcPr anchor="ctr"/>
                </a:tc>
                <a:tc>
                  <a:txBody>
                    <a:bodyPr/>
                    <a:lstStyle/>
                    <a:p>
                      <a:pPr>
                        <a:buNone/>
                      </a:pPr>
                      <a:r>
                        <a:rPr lang="en-US" altLang="en-US" dirty="0">
                          <a:latin typeface="Cambria" panose="02040503050406030204" pitchFamily="18" charset="0"/>
                          <a:ea typeface="Cambria" panose="02040503050406030204" pitchFamily="18" charset="0"/>
                        </a:rPr>
                        <a:t>Wren, A., Scheduling, Timetabling and Rostering — A Special Relationship</a:t>
                      </a:r>
                      <a:endParaRPr lang="en-US" altLang="en-US" dirty="0">
                        <a:latin typeface="Cambria" panose="02040503050406030204" pitchFamily="18" charset="0"/>
                        <a:ea typeface="Cambria" panose="02040503050406030204" pitchFamily="18" charset="0"/>
                      </a:endParaRPr>
                    </a:p>
                  </a:txBody>
                  <a:tcPr anchor="ctr"/>
                </a:tc>
                <a:tc>
                  <a:txBody>
                    <a:bodyPr/>
                    <a:lstStyle/>
                    <a:p>
                      <a:pPr>
                        <a:buNone/>
                      </a:pPr>
                      <a:r>
                        <a:rPr lang="en-IN" dirty="0">
                          <a:latin typeface="Cambria" panose="02040503050406030204" pitchFamily="18" charset="0"/>
                          <a:ea typeface="Cambria" panose="02040503050406030204" pitchFamily="18" charset="0"/>
                        </a:rPr>
                        <a:t>1996</a:t>
                      </a:r>
                      <a:endParaRPr lang="en-IN" dirty="0">
                        <a:latin typeface="Cambria" panose="02040503050406030204" pitchFamily="18" charset="0"/>
                        <a:ea typeface="Cambria" panose="02040503050406030204" pitchFamily="18" charset="0"/>
                      </a:endParaRPr>
                    </a:p>
                  </a:txBody>
                  <a:tcPr anchor="ctr"/>
                </a:tc>
                <a:tc>
                  <a:txBody>
                    <a:bodyPr/>
                    <a:lstStyle/>
                    <a:p>
                      <a:pPr>
                        <a:buNone/>
                      </a:pPr>
                      <a:r>
                        <a:rPr lang="en-US" altLang="en-US" dirty="0">
                          <a:latin typeface="Cambria" panose="02040503050406030204" pitchFamily="18" charset="0"/>
                          <a:ea typeface="Cambria" panose="02040503050406030204" pitchFamily="18" charset="0"/>
                        </a:rPr>
                        <a:t>Establishes theoretical foundations for automated timetabling</a:t>
                      </a:r>
                      <a:endParaRPr lang="en-US" altLang="en-US" dirty="0">
                        <a:latin typeface="Cambria" panose="02040503050406030204" pitchFamily="18" charset="0"/>
                        <a:ea typeface="Cambria" panose="02040503050406030204" pitchFamily="18" charset="0"/>
                      </a:endParaRPr>
                    </a:p>
                  </a:txBody>
                  <a:tcPr anchor="ctr"/>
                </a:tc>
                <a:tc>
                  <a:txBody>
                    <a:bodyPr/>
                    <a:lstStyle/>
                    <a:p>
                      <a:pPr>
                        <a:buNone/>
                      </a:pPr>
                      <a:r>
                        <a:rPr lang="en-US" altLang="en-US" dirty="0">
                          <a:latin typeface="Cambria" panose="02040503050406030204" pitchFamily="18" charset="0"/>
                          <a:ea typeface="Cambria" panose="02040503050406030204" pitchFamily="18" charset="0"/>
                        </a:rPr>
                        <a:t>Lacks modern AI and computational techniques</a:t>
                      </a:r>
                      <a:endParaRPr lang="en-US" altLang="en-US" dirty="0">
                        <a:latin typeface="Cambria" panose="02040503050406030204" pitchFamily="18" charset="0"/>
                        <a:ea typeface="Cambria" panose="02040503050406030204" pitchFamily="18" charset="0"/>
                      </a:endParaRPr>
                    </a:p>
                  </a:txBody>
                  <a:tcPr anchor="ctr"/>
                </a:tc>
              </a:tr>
              <a:tr h="712949">
                <a:tc>
                  <a:txBody>
                    <a:bodyPr/>
                    <a:lstStyle/>
                    <a:p>
                      <a:pPr>
                        <a:buNone/>
                      </a:pPr>
                      <a:r>
                        <a:rPr lang="en-IN" dirty="0">
                          <a:latin typeface="Cambria" panose="02040503050406030204" pitchFamily="18" charset="0"/>
                          <a:ea typeface="Cambria" panose="02040503050406030204" pitchFamily="18" charset="0"/>
                        </a:rPr>
                        <a:t>4</a:t>
                      </a:r>
                      <a:endParaRPr lang="en-IN" dirty="0">
                        <a:latin typeface="Cambria" panose="02040503050406030204" pitchFamily="18" charset="0"/>
                        <a:ea typeface="Cambria" panose="02040503050406030204" pitchFamily="18" charset="0"/>
                      </a:endParaRPr>
                    </a:p>
                  </a:txBody>
                  <a:tcPr anchor="ctr"/>
                </a:tc>
                <a:tc>
                  <a:txBody>
                    <a:bodyPr/>
                    <a:lstStyle/>
                    <a:p>
                      <a:pPr>
                        <a:buNone/>
                      </a:pPr>
                      <a:r>
                        <a:rPr lang="en-US" altLang="en-US" dirty="0">
                          <a:latin typeface="Cambria" panose="02040503050406030204" pitchFamily="18" charset="0"/>
                          <a:ea typeface="Cambria" panose="02040503050406030204" pitchFamily="18" charset="0"/>
                        </a:rPr>
                        <a:t>V. Shah et al., Optimizing Timetable Generation Using Genetic Algorithm</a:t>
                      </a:r>
                      <a:endParaRPr lang="en-US" altLang="en-US" dirty="0">
                        <a:latin typeface="Cambria" panose="02040503050406030204" pitchFamily="18" charset="0"/>
                        <a:ea typeface="Cambria" panose="02040503050406030204" pitchFamily="18" charset="0"/>
                      </a:endParaRPr>
                    </a:p>
                  </a:txBody>
                  <a:tcPr anchor="ctr"/>
                </a:tc>
                <a:tc>
                  <a:txBody>
                    <a:bodyPr/>
                    <a:lstStyle/>
                    <a:p>
                      <a:pPr>
                        <a:buNone/>
                      </a:pPr>
                      <a:r>
                        <a:rPr lang="en-IN" dirty="0">
                          <a:latin typeface="Cambria" panose="02040503050406030204" pitchFamily="18" charset="0"/>
                          <a:ea typeface="Cambria" panose="02040503050406030204" pitchFamily="18" charset="0"/>
                        </a:rPr>
                        <a:t>2025</a:t>
                      </a:r>
                      <a:endParaRPr lang="en-IN" dirty="0">
                        <a:latin typeface="Cambria" panose="02040503050406030204" pitchFamily="18" charset="0"/>
                        <a:ea typeface="Cambria" panose="02040503050406030204" pitchFamily="18" charset="0"/>
                      </a:endParaRPr>
                    </a:p>
                  </a:txBody>
                  <a:tcPr anchor="ctr"/>
                </a:tc>
                <a:tc>
                  <a:txBody>
                    <a:bodyPr/>
                    <a:lstStyle/>
                    <a:p>
                      <a:pPr>
                        <a:buNone/>
                      </a:pPr>
                      <a:r>
                        <a:rPr lang="en-US" altLang="en-US" dirty="0">
                          <a:latin typeface="Cambria" panose="02040503050406030204" pitchFamily="18" charset="0"/>
                          <a:ea typeface="Cambria" panose="02040503050406030204" pitchFamily="18" charset="0"/>
                        </a:rPr>
                        <a:t>Genetic algorithms provide optimized and flexible timetable solutions</a:t>
                      </a:r>
                      <a:endParaRPr lang="en-US" altLang="en-US" dirty="0">
                        <a:latin typeface="Cambria" panose="02040503050406030204" pitchFamily="18" charset="0"/>
                        <a:ea typeface="Cambria" panose="02040503050406030204" pitchFamily="18" charset="0"/>
                      </a:endParaRPr>
                    </a:p>
                  </a:txBody>
                  <a:tcPr anchor="ctr"/>
                </a:tc>
                <a:tc>
                  <a:txBody>
                    <a:bodyPr/>
                    <a:lstStyle/>
                    <a:p>
                      <a:pPr>
                        <a:buNone/>
                      </a:pPr>
                      <a:r>
                        <a:rPr lang="en-US" altLang="en-US" dirty="0">
                          <a:latin typeface="Cambria" panose="02040503050406030204" pitchFamily="18" charset="0"/>
                          <a:ea typeface="Cambria" panose="02040503050406030204" pitchFamily="18" charset="0"/>
                        </a:rPr>
                        <a:t>Requires careful parameter tuning and longer execution time</a:t>
                      </a:r>
                      <a:endParaRPr lang="en-US" altLang="en-US" dirty="0">
                        <a:latin typeface="Cambria" panose="02040503050406030204" pitchFamily="18" charset="0"/>
                        <a:ea typeface="Cambria" panose="02040503050406030204" pitchFamily="18" charset="0"/>
                      </a:endParaRPr>
                    </a:p>
                  </a:txBody>
                  <a:tcPr anchor="ct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able 10"/>
          <p:cNvGraphicFramePr>
            <a:graphicFrameLocks noGrp="1"/>
          </p:cNvGraphicFramePr>
          <p:nvPr/>
        </p:nvGraphicFramePr>
        <p:xfrm>
          <a:off x="854530" y="1121228"/>
          <a:ext cx="10483215" cy="4025265"/>
        </p:xfrm>
        <a:graphic>
          <a:graphicData uri="http://schemas.openxmlformats.org/drawingml/2006/table">
            <a:tbl>
              <a:tblPr firstRow="1" bandRow="1"/>
              <a:tblGrid>
                <a:gridCol w="979715"/>
                <a:gridCol w="2718435"/>
                <a:gridCol w="950595"/>
                <a:gridCol w="3090998"/>
                <a:gridCol w="2743197"/>
              </a:tblGrid>
              <a:tr h="617764">
                <a:tc>
                  <a:txBody>
                    <a:bodyPr/>
                    <a:lstStyle/>
                    <a:p>
                      <a:endParaRPr lang="en-IN" sz="1500" dirty="0">
                        <a:latin typeface="Cambria" panose="02040503050406030204" pitchFamily="18" charset="0"/>
                        <a:ea typeface="Cambria" panose="02040503050406030204" pitchFamily="18" charset="0"/>
                        <a:cs typeface="Times New Roman" panose="02020603050405020304" pitchFamily="18" charset="0"/>
                      </a:endParaRPr>
                    </a:p>
                    <a:p>
                      <a:r>
                        <a:rPr lang="en-IN" sz="1500" dirty="0">
                          <a:latin typeface="Cambria" panose="02040503050406030204" pitchFamily="18" charset="0"/>
                          <a:ea typeface="Cambria" panose="02040503050406030204" pitchFamily="18" charset="0"/>
                          <a:cs typeface="Times New Roman" panose="02020603050405020304" pitchFamily="18" charset="0"/>
                        </a:rPr>
                        <a:t>    5</a:t>
                      </a:r>
                      <a:endParaRPr lang="en-IN" sz="1500"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r>
                        <a:rPr lang="en-US" altLang="en-US" sz="1500" dirty="0">
                          <a:latin typeface="Cambria" panose="02040503050406030204" pitchFamily="18" charset="0"/>
                          <a:ea typeface="Cambria" panose="02040503050406030204" pitchFamily="18" charset="0"/>
                          <a:cs typeface="Times New Roman" panose="02020603050405020304" pitchFamily="18" charset="0"/>
                        </a:rPr>
                        <a:t>A Survey Paper on Timetable Generator Using AI Methods</a:t>
                      </a:r>
                      <a:endParaRPr lang="en-US" altLang="en-US" sz="1500"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endParaRPr lang="en-IN" sz="1500" dirty="0">
                        <a:latin typeface="Cambria" panose="02040503050406030204" pitchFamily="18" charset="0"/>
                        <a:ea typeface="Cambria" panose="02040503050406030204" pitchFamily="18" charset="0"/>
                        <a:cs typeface="Times New Roman" panose="02020603050405020304" pitchFamily="18" charset="0"/>
                      </a:endParaRPr>
                    </a:p>
                    <a:p>
                      <a:r>
                        <a:rPr lang="en-IN" sz="1500" dirty="0">
                          <a:latin typeface="Cambria" panose="02040503050406030204" pitchFamily="18" charset="0"/>
                          <a:ea typeface="Cambria" panose="02040503050406030204" pitchFamily="18" charset="0"/>
                          <a:cs typeface="Times New Roman" panose="02020603050405020304" pitchFamily="18" charset="0"/>
                        </a:rPr>
                        <a:t>      2025</a:t>
                      </a:r>
                      <a:endParaRPr lang="en-IN" sz="1500"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r>
                        <a:rPr lang="en-US" altLang="en-US" sz="1500" dirty="0">
                          <a:latin typeface="Cambria" panose="02040503050406030204" pitchFamily="18" charset="0"/>
                          <a:ea typeface="Cambria" panose="02040503050406030204" pitchFamily="18" charset="0"/>
                          <a:cs typeface="Times New Roman" panose="02020603050405020304" pitchFamily="18" charset="0"/>
                        </a:rPr>
                        <a:t>Reviews multiple AI-based approaches and highlights research trends</a:t>
                      </a:r>
                      <a:endParaRPr lang="en-US" altLang="en-US" sz="1500"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r>
                        <a:rPr lang="en-US" altLang="en-US" sz="1500" dirty="0">
                          <a:latin typeface="Cambria" panose="02040503050406030204" pitchFamily="18" charset="0"/>
                          <a:ea typeface="Cambria" panose="02040503050406030204" pitchFamily="18" charset="0"/>
                          <a:cs typeface="Times New Roman" panose="02020603050405020304" pitchFamily="18" charset="0"/>
                        </a:rPr>
                        <a:t>Does not implement or evaluate a real system</a:t>
                      </a:r>
                      <a:endParaRPr lang="en-US" altLang="en-US" sz="1500" dirty="0">
                        <a:latin typeface="Cambria" panose="02040503050406030204" pitchFamily="18" charset="0"/>
                        <a:ea typeface="Cambria" panose="02040503050406030204" pitchFamily="18" charset="0"/>
                        <a:cs typeface="Times New Roman" panose="02020603050405020304" pitchFamily="18" charset="0"/>
                      </a:endParaRPr>
                    </a:p>
                  </a:txBody>
                  <a:tcPr/>
                </a:tc>
              </a:tr>
              <a:tr h="617764">
                <a:tc>
                  <a:txBody>
                    <a:bodyPr/>
                    <a:lstStyle/>
                    <a:p>
                      <a:endParaRPr lang="en-IN" sz="1500" dirty="0">
                        <a:latin typeface="Cambria" panose="02040503050406030204" pitchFamily="18" charset="0"/>
                        <a:ea typeface="Cambria" panose="02040503050406030204" pitchFamily="18" charset="0"/>
                        <a:cs typeface="Times New Roman" panose="02020603050405020304" pitchFamily="18" charset="0"/>
                      </a:endParaRPr>
                    </a:p>
                    <a:p>
                      <a:r>
                        <a:rPr lang="en-IN" sz="1500" dirty="0">
                          <a:latin typeface="Cambria" panose="02040503050406030204" pitchFamily="18" charset="0"/>
                          <a:ea typeface="Cambria" panose="02040503050406030204" pitchFamily="18" charset="0"/>
                          <a:cs typeface="Times New Roman" panose="02020603050405020304" pitchFamily="18" charset="0"/>
                        </a:rPr>
                        <a:t>    6</a:t>
                      </a:r>
                      <a:endParaRPr lang="en-IN" sz="1500"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r>
                        <a:rPr lang="en-US" altLang="en-US" sz="1500" dirty="0">
                          <a:latin typeface="Cambria" panose="02040503050406030204" pitchFamily="18" charset="0"/>
                          <a:ea typeface="Cambria" panose="02040503050406030204" pitchFamily="18" charset="0"/>
                          <a:cs typeface="Times New Roman" panose="02020603050405020304" pitchFamily="18" charset="0"/>
                        </a:rPr>
                        <a:t>X. Han and D. Wang, Gradual Optimization Using GA and Dynamic Programming</a:t>
                      </a:r>
                      <a:endParaRPr lang="en-US" altLang="en-US" sz="1500"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endParaRPr lang="en-IN" sz="1500" dirty="0">
                        <a:latin typeface="Cambria" panose="02040503050406030204" pitchFamily="18" charset="0"/>
                        <a:ea typeface="Cambria" panose="02040503050406030204" pitchFamily="18" charset="0"/>
                        <a:cs typeface="Times New Roman" panose="02020603050405020304" pitchFamily="18" charset="0"/>
                      </a:endParaRPr>
                    </a:p>
                    <a:p>
                      <a:r>
                        <a:rPr lang="en-IN" sz="1500" dirty="0">
                          <a:latin typeface="Cambria" panose="02040503050406030204" pitchFamily="18" charset="0"/>
                          <a:ea typeface="Cambria" panose="02040503050406030204" pitchFamily="18" charset="0"/>
                          <a:cs typeface="Times New Roman" panose="02020603050405020304" pitchFamily="18" charset="0"/>
                        </a:rPr>
                        <a:t>      2025</a:t>
                      </a:r>
                      <a:endParaRPr lang="en-IN" sz="1500"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r>
                        <a:rPr lang="en-IN" sz="1600" dirty="0">
                          <a:latin typeface="Cambria" panose="02040503050406030204" pitchFamily="18" charset="0"/>
                          <a:ea typeface="Cambria" panose="02040503050406030204" pitchFamily="18" charset="0"/>
                        </a:rPr>
                        <a:t>Hybrid approach improves optimization accuracy</a:t>
                      </a:r>
                      <a:endParaRPr lang="en-IN" sz="1500"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r>
                        <a:rPr lang="en-US" altLang="en-US" sz="1500" dirty="0">
                          <a:latin typeface="Cambria" panose="02040503050406030204" pitchFamily="18" charset="0"/>
                          <a:ea typeface="Cambria" panose="02040503050406030204" pitchFamily="18" charset="0"/>
                          <a:cs typeface="Times New Roman" panose="02020603050405020304" pitchFamily="18" charset="0"/>
                        </a:rPr>
                        <a:t>Increased system complexity and resource usage</a:t>
                      </a:r>
                      <a:endParaRPr lang="en-US" altLang="en-US" sz="1500" dirty="0">
                        <a:latin typeface="Cambria" panose="02040503050406030204" pitchFamily="18" charset="0"/>
                        <a:ea typeface="Cambria" panose="02040503050406030204" pitchFamily="18" charset="0"/>
                        <a:cs typeface="Times New Roman" panose="02020603050405020304" pitchFamily="18" charset="0"/>
                      </a:endParaRPr>
                    </a:p>
                  </a:txBody>
                  <a:tcPr/>
                </a:tc>
              </a:tr>
              <a:tr h="617764">
                <a:tc>
                  <a:txBody>
                    <a:bodyPr/>
                    <a:lstStyle/>
                    <a:p>
                      <a:pPr>
                        <a:buNone/>
                      </a:pPr>
                      <a:r>
                        <a:rPr lang="en-IN" dirty="0">
                          <a:latin typeface="Cambria" panose="02040503050406030204" pitchFamily="18" charset="0"/>
                          <a:ea typeface="Cambria" panose="02040503050406030204" pitchFamily="18" charset="0"/>
                        </a:rPr>
                        <a:t>    7</a:t>
                      </a:r>
                      <a:endParaRPr lang="en-IN" dirty="0">
                        <a:latin typeface="Cambria" panose="02040503050406030204" pitchFamily="18" charset="0"/>
                        <a:ea typeface="Cambria" panose="02040503050406030204" pitchFamily="18" charset="0"/>
                      </a:endParaRPr>
                    </a:p>
                  </a:txBody>
                  <a:tcPr anchor="ctr"/>
                </a:tc>
                <a:tc>
                  <a:txBody>
                    <a:bodyPr/>
                    <a:lstStyle/>
                    <a:p>
                      <a:pPr>
                        <a:buNone/>
                      </a:pPr>
                      <a:r>
                        <a:rPr lang="en-US" altLang="en-US" dirty="0">
                          <a:latin typeface="Cambria" panose="02040503050406030204" pitchFamily="18" charset="0"/>
                          <a:ea typeface="Cambria" panose="02040503050406030204" pitchFamily="18" charset="0"/>
                        </a:rPr>
                        <a:t>Z. Bratkovi</a:t>
                      </a:r>
                      <a:r>
                        <a:rPr lang="en-US" altLang="en-US" dirty="0">
                          <a:latin typeface="Cambria" panose="02040503050406030204" pitchFamily="18" charset="0"/>
                          <a:ea typeface="Cambria" panose="02040503050406030204" pitchFamily="18" charset="0"/>
                        </a:rPr>
                        <a:t>ć</a:t>
                      </a:r>
                      <a:r>
                        <a:rPr lang="en-US" altLang="en-US" dirty="0">
                          <a:latin typeface="Cambria" panose="02040503050406030204" pitchFamily="18" charset="0"/>
                          <a:ea typeface="Cambria" panose="02040503050406030204" pitchFamily="18" charset="0"/>
                        </a:rPr>
                        <a:t> et al., University Course Timetabling with Genetic Algorithm</a:t>
                      </a:r>
                      <a:endParaRPr lang="en-US" altLang="en-US" dirty="0">
                        <a:latin typeface="Cambria" panose="02040503050406030204" pitchFamily="18" charset="0"/>
                        <a:ea typeface="Cambria" panose="02040503050406030204" pitchFamily="18" charset="0"/>
                      </a:endParaRPr>
                    </a:p>
                  </a:txBody>
                  <a:tcPr anchor="ctr"/>
                </a:tc>
                <a:tc>
                  <a:txBody>
                    <a:bodyPr/>
                    <a:lstStyle/>
                    <a:p>
                      <a:endParaRPr lang="en-IN" sz="1500" dirty="0">
                        <a:latin typeface="Cambria" panose="02040503050406030204" pitchFamily="18" charset="0"/>
                        <a:ea typeface="Cambria" panose="02040503050406030204" pitchFamily="18" charset="0"/>
                        <a:cs typeface="Times New Roman" panose="02020603050405020304" pitchFamily="18" charset="0"/>
                      </a:endParaRPr>
                    </a:p>
                    <a:p>
                      <a:r>
                        <a:rPr lang="en-IN" sz="1500" dirty="0">
                          <a:latin typeface="Cambria" panose="02040503050406030204" pitchFamily="18" charset="0"/>
                          <a:ea typeface="Cambria" panose="02040503050406030204" pitchFamily="18" charset="0"/>
                          <a:cs typeface="Times New Roman" panose="02020603050405020304" pitchFamily="18" charset="0"/>
                        </a:rPr>
                        <a:t>      2009</a:t>
                      </a:r>
                      <a:endParaRPr lang="en-IN" sz="1500"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r>
                        <a:rPr lang="en-US" altLang="en-US" sz="1500" dirty="0">
                          <a:latin typeface="Cambria" panose="02040503050406030204" pitchFamily="18" charset="0"/>
                          <a:ea typeface="Cambria" panose="02040503050406030204" pitchFamily="18" charset="0"/>
                          <a:cs typeface="Times New Roman" panose="02020603050405020304" pitchFamily="18" charset="0"/>
                        </a:rPr>
                        <a:t>Demonstrates GA effectiveness in academic scheduling scenarios</a:t>
                      </a:r>
                      <a:endParaRPr lang="en-US" altLang="en-US" sz="1500"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r>
                        <a:rPr lang="en-US" altLang="en-US" sz="1500" dirty="0">
                          <a:latin typeface="Cambria" panose="02040503050406030204" pitchFamily="18" charset="0"/>
                          <a:ea typeface="Cambria" panose="02040503050406030204" pitchFamily="18" charset="0"/>
                          <a:cs typeface="Times New Roman" panose="02020603050405020304" pitchFamily="18" charset="0"/>
                        </a:rPr>
                        <a:t>Focused on limited use cases (laboratory exercises)</a:t>
                      </a:r>
                      <a:endParaRPr lang="en-US" altLang="en-US" sz="1500" dirty="0">
                        <a:latin typeface="Cambria" panose="02040503050406030204" pitchFamily="18" charset="0"/>
                        <a:ea typeface="Cambria" panose="02040503050406030204" pitchFamily="18" charset="0"/>
                        <a:cs typeface="Times New Roman" panose="02020603050405020304" pitchFamily="18" charset="0"/>
                      </a:endParaRPr>
                    </a:p>
                  </a:txBody>
                  <a:tcPr/>
                </a:tc>
              </a:tr>
              <a:tr h="617764">
                <a:tc>
                  <a:txBody>
                    <a:bodyPr/>
                    <a:lstStyle/>
                    <a:p>
                      <a:endParaRPr lang="en-IN" sz="1500" dirty="0">
                        <a:latin typeface="Cambria" panose="02040503050406030204" pitchFamily="18" charset="0"/>
                        <a:ea typeface="Cambria" panose="02040503050406030204" pitchFamily="18" charset="0"/>
                        <a:cs typeface="Times New Roman" panose="02020603050405020304" pitchFamily="18" charset="0"/>
                      </a:endParaRPr>
                    </a:p>
                    <a:p>
                      <a:r>
                        <a:rPr lang="en-IN" sz="1500" dirty="0">
                          <a:latin typeface="Cambria" panose="02040503050406030204" pitchFamily="18" charset="0"/>
                          <a:ea typeface="Cambria" panose="02040503050406030204" pitchFamily="18" charset="0"/>
                          <a:cs typeface="Times New Roman" panose="02020603050405020304" pitchFamily="18" charset="0"/>
                        </a:rPr>
                        <a:t>    8</a:t>
                      </a:r>
                      <a:endParaRPr lang="en-IN" sz="1500"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r>
                        <a:rPr lang="en-US" altLang="en-US" sz="1500" dirty="0">
                          <a:latin typeface="Cambria" panose="02040503050406030204" pitchFamily="18" charset="0"/>
                          <a:ea typeface="Cambria" panose="02040503050406030204" pitchFamily="18" charset="0"/>
                          <a:cs typeface="Times New Roman" panose="02020603050405020304" pitchFamily="18" charset="0"/>
                        </a:rPr>
                        <a:t>A. Muklason et al., Tabu–Simulated Annealing Hyper-Heuristics</a:t>
                      </a:r>
                      <a:endParaRPr lang="en-US" altLang="en-US" sz="1500"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endParaRPr lang="en-IN" sz="1500" dirty="0">
                        <a:latin typeface="Cambria" panose="02040503050406030204" pitchFamily="18" charset="0"/>
                        <a:ea typeface="Cambria" panose="02040503050406030204" pitchFamily="18" charset="0"/>
                        <a:cs typeface="Times New Roman" panose="02020603050405020304" pitchFamily="18" charset="0"/>
                      </a:endParaRPr>
                    </a:p>
                    <a:p>
                      <a:r>
                        <a:rPr lang="en-IN" sz="1500" dirty="0">
                          <a:latin typeface="Cambria" panose="02040503050406030204" pitchFamily="18" charset="0"/>
                          <a:ea typeface="Cambria" panose="02040503050406030204" pitchFamily="18" charset="0"/>
                          <a:cs typeface="Times New Roman" panose="02020603050405020304" pitchFamily="18" charset="0"/>
                        </a:rPr>
                        <a:t>      2024</a:t>
                      </a:r>
                      <a:endParaRPr lang="en-IN" sz="1500"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r>
                        <a:rPr lang="en-US" altLang="en-US" sz="1500" dirty="0">
                          <a:latin typeface="Cambria" panose="02040503050406030204" pitchFamily="18" charset="0"/>
                          <a:ea typeface="Cambria" panose="02040503050406030204" pitchFamily="18" charset="0"/>
                          <a:cs typeface="Times New Roman" panose="02020603050405020304" pitchFamily="18" charset="0"/>
                        </a:rPr>
                        <a:t>Reduces conflicts using hybrid heuristic optimization</a:t>
                      </a:r>
                      <a:endParaRPr lang="en-US" altLang="en-US" sz="1500"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r>
                        <a:rPr lang="en-US" altLang="en-US" sz="1500" dirty="0">
                          <a:latin typeface="Cambria" panose="02040503050406030204" pitchFamily="18" charset="0"/>
                          <a:ea typeface="Cambria" panose="02040503050406030204" pitchFamily="18" charset="0"/>
                          <a:cs typeface="Times New Roman" panose="02020603050405020304" pitchFamily="18" charset="0"/>
                        </a:rPr>
                        <a:t>Algorithm complexity makes real-time implementation difficult</a:t>
                      </a:r>
                      <a:endParaRPr lang="en-US" altLang="en-US" sz="1500" dirty="0">
                        <a:latin typeface="Cambria" panose="02040503050406030204" pitchFamily="18" charset="0"/>
                        <a:ea typeface="Cambria" panose="02040503050406030204" pitchFamily="18" charset="0"/>
                        <a:cs typeface="Times New Roman" panose="02020603050405020304" pitchFamily="18" charset="0"/>
                      </a:endParaRPr>
                    </a:p>
                  </a:txBody>
                  <a:tcPr/>
                </a:tc>
              </a:tr>
              <a:tr h="617764">
                <a:tc>
                  <a:txBody>
                    <a:bodyPr/>
                    <a:lstStyle/>
                    <a:p>
                      <a:endParaRPr lang="en-IN" sz="1500" dirty="0">
                        <a:latin typeface="Cambria" panose="02040503050406030204" pitchFamily="18" charset="0"/>
                        <a:ea typeface="Cambria" panose="02040503050406030204" pitchFamily="18" charset="0"/>
                        <a:cs typeface="Times New Roman" panose="02020603050405020304" pitchFamily="18" charset="0"/>
                      </a:endParaRPr>
                    </a:p>
                    <a:p>
                      <a:r>
                        <a:rPr lang="en-IN" sz="1500" dirty="0">
                          <a:latin typeface="Cambria" panose="02040503050406030204" pitchFamily="18" charset="0"/>
                          <a:ea typeface="Cambria" panose="02040503050406030204" pitchFamily="18" charset="0"/>
                          <a:cs typeface="Times New Roman" panose="02020603050405020304" pitchFamily="18" charset="0"/>
                        </a:rPr>
                        <a:t>    9</a:t>
                      </a:r>
                      <a:endParaRPr lang="en-IN" sz="1500"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buNone/>
                      </a:pPr>
                      <a:r>
                        <a:rPr lang="en-US" altLang="en-US" dirty="0">
                          <a:latin typeface="Cambria" panose="02040503050406030204" pitchFamily="18" charset="0"/>
                          <a:ea typeface="Cambria" panose="02040503050406030204" pitchFamily="18" charset="0"/>
                        </a:rPr>
                        <a:t>A. R. Mahlous and H. Mahlous, Student Timetabling Genetic Algorithm</a:t>
                      </a:r>
                      <a:endParaRPr lang="en-US" altLang="en-US" dirty="0">
                        <a:latin typeface="Cambria" panose="02040503050406030204" pitchFamily="18" charset="0"/>
                        <a:ea typeface="Cambria" panose="02040503050406030204" pitchFamily="18" charset="0"/>
                      </a:endParaRPr>
                    </a:p>
                  </a:txBody>
                  <a:tcPr anchor="ctr"/>
                </a:tc>
                <a:tc>
                  <a:txBody>
                    <a:bodyPr/>
                    <a:lstStyle/>
                    <a:p>
                      <a:endParaRPr lang="en-IN" sz="1500" dirty="0">
                        <a:latin typeface="Cambria" panose="02040503050406030204" pitchFamily="18" charset="0"/>
                        <a:ea typeface="Cambria" panose="02040503050406030204" pitchFamily="18" charset="0"/>
                        <a:cs typeface="Times New Roman" panose="02020603050405020304" pitchFamily="18" charset="0"/>
                      </a:endParaRPr>
                    </a:p>
                    <a:p>
                      <a:r>
                        <a:rPr lang="en-IN" sz="1500" dirty="0">
                          <a:latin typeface="Cambria" panose="02040503050406030204" pitchFamily="18" charset="0"/>
                          <a:ea typeface="Cambria" panose="02040503050406030204" pitchFamily="18" charset="0"/>
                          <a:cs typeface="Times New Roman" panose="02020603050405020304" pitchFamily="18" charset="0"/>
                        </a:rPr>
                        <a:t>      2023</a:t>
                      </a:r>
                      <a:endParaRPr lang="en-IN" sz="1500"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r>
                        <a:rPr lang="en-IN" sz="1600" dirty="0">
                          <a:latin typeface="Cambria" panose="02040503050406030204" pitchFamily="18" charset="0"/>
                          <a:ea typeface="Cambria" panose="02040503050406030204" pitchFamily="18" charset="0"/>
                        </a:rPr>
                        <a:t>Supports data-driven agricultural planning</a:t>
                      </a:r>
                      <a:endParaRPr lang="en-IN" sz="1500"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r>
                        <a:rPr lang="en-US" altLang="en-US" sz="1500" dirty="0">
                          <a:latin typeface="Cambria" panose="02040503050406030204" pitchFamily="18" charset="0"/>
                          <a:ea typeface="Cambria" panose="02040503050406030204" pitchFamily="18" charset="0"/>
                          <a:cs typeface="Times New Roman" panose="02020603050405020304" pitchFamily="18" charset="0"/>
                        </a:rPr>
                        <a:t>Increased constraints reduce optimization flexibility</a:t>
                      </a:r>
                      <a:endParaRPr lang="en-US" altLang="en-US" sz="1500" dirty="0">
                        <a:latin typeface="Cambria" panose="02040503050406030204" pitchFamily="18" charset="0"/>
                        <a:ea typeface="Cambria" panose="02040503050406030204" pitchFamily="18" charset="0"/>
                        <a:cs typeface="Times New Roman" panose="02020603050405020304" pitchFamily="18" charset="0"/>
                      </a:endParaRPr>
                    </a:p>
                  </a:txBody>
                  <a:tcPr/>
                </a:tc>
              </a:tr>
              <a:tr h="617764">
                <a:tc>
                  <a:txBody>
                    <a:bodyPr/>
                    <a:lstStyle/>
                    <a:p>
                      <a:endParaRPr lang="en-IN" sz="1500" dirty="0">
                        <a:latin typeface="Cambria" panose="02040503050406030204" pitchFamily="18" charset="0"/>
                        <a:ea typeface="Cambria" panose="02040503050406030204" pitchFamily="18" charset="0"/>
                        <a:cs typeface="Times New Roman" panose="02020603050405020304" pitchFamily="18" charset="0"/>
                      </a:endParaRPr>
                    </a:p>
                    <a:p>
                      <a:r>
                        <a:rPr lang="en-IN" sz="1500" dirty="0">
                          <a:latin typeface="Cambria" panose="02040503050406030204" pitchFamily="18" charset="0"/>
                          <a:ea typeface="Cambria" panose="02040503050406030204" pitchFamily="18" charset="0"/>
                          <a:cs typeface="Times New Roman" panose="02020603050405020304" pitchFamily="18" charset="0"/>
                        </a:rPr>
                        <a:t>    10</a:t>
                      </a:r>
                      <a:endParaRPr lang="en-IN" sz="1500"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buNone/>
                      </a:pPr>
                      <a:r>
                        <a:rPr lang="en-US" altLang="en-US" dirty="0">
                          <a:latin typeface="Cambria" panose="02040503050406030204" pitchFamily="18" charset="0"/>
                          <a:ea typeface="Cambria" panose="02040503050406030204" pitchFamily="18" charset="0"/>
                        </a:rPr>
                        <a:t>E. K. Burke &amp; S. Petrovic, Recent Research Directions in Automated Timetabling</a:t>
                      </a:r>
                      <a:endParaRPr lang="en-US" altLang="en-US" dirty="0">
                        <a:latin typeface="Cambria" panose="02040503050406030204" pitchFamily="18" charset="0"/>
                        <a:ea typeface="Cambria" panose="02040503050406030204" pitchFamily="18" charset="0"/>
                      </a:endParaRPr>
                    </a:p>
                  </a:txBody>
                  <a:tcPr anchor="ctr"/>
                </a:tc>
                <a:tc>
                  <a:txBody>
                    <a:bodyPr/>
                    <a:lstStyle/>
                    <a:p>
                      <a:endParaRPr lang="en-IN" sz="1500" dirty="0">
                        <a:latin typeface="Cambria" panose="02040503050406030204" pitchFamily="18" charset="0"/>
                        <a:ea typeface="Cambria" panose="02040503050406030204" pitchFamily="18" charset="0"/>
                        <a:cs typeface="Times New Roman" panose="02020603050405020304" pitchFamily="18" charset="0"/>
                      </a:endParaRPr>
                    </a:p>
                    <a:p>
                      <a:r>
                        <a:rPr lang="en-IN" sz="1500" dirty="0">
                          <a:latin typeface="Cambria" panose="02040503050406030204" pitchFamily="18" charset="0"/>
                          <a:ea typeface="Cambria" panose="02040503050406030204" pitchFamily="18" charset="0"/>
                          <a:cs typeface="Times New Roman" panose="02020603050405020304" pitchFamily="18" charset="0"/>
                        </a:rPr>
                        <a:t>      2002</a:t>
                      </a:r>
                      <a:endParaRPr lang="en-IN" sz="1500"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r>
                        <a:rPr lang="en-US" altLang="en-US" sz="1500" dirty="0">
                          <a:latin typeface="Cambria" panose="02040503050406030204" pitchFamily="18" charset="0"/>
                          <a:ea typeface="Cambria" panose="02040503050406030204" pitchFamily="18" charset="0"/>
                          <a:cs typeface="Times New Roman" panose="02020603050405020304" pitchFamily="18" charset="0"/>
                        </a:rPr>
                        <a:t>Provides a foundational review of automated timetabling methods and constraint-based approaches.</a:t>
                      </a:r>
                      <a:endParaRPr lang="en-US" altLang="en-US" sz="1500"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r>
                        <a:rPr lang="en-US" altLang="en-US" sz="1500" dirty="0">
                          <a:latin typeface="Cambria" panose="02040503050406030204" pitchFamily="18" charset="0"/>
                          <a:ea typeface="Cambria" panose="02040503050406030204" pitchFamily="18" charset="0"/>
                          <a:cs typeface="Times New Roman" panose="02020603050405020304" pitchFamily="18" charset="0"/>
                        </a:rPr>
                        <a:t>Lacks support for modern AI techniques and multidisciplinary education requirements.</a:t>
                      </a:r>
                      <a:endParaRPr lang="en-US" altLang="en-US" sz="1500" dirty="0">
                        <a:latin typeface="Cambria" panose="02040503050406030204" pitchFamily="18" charset="0"/>
                        <a:ea typeface="Cambria" panose="02040503050406030204" pitchFamily="18" charset="0"/>
                        <a:cs typeface="Times New Roman" panose="02020603050405020304" pitchFamily="18" charset="0"/>
                      </a:endParaRPr>
                    </a:p>
                  </a:txBody>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IN" dirty="0">
                <a:latin typeface="Times New Roman" panose="02020603050405020304" pitchFamily="18" charset="0"/>
                <a:ea typeface="Cambria" panose="02040503050406030204" pitchFamily="18" charset="0"/>
                <a:cs typeface="Times New Roman" panose="02020603050405020304" pitchFamily="18" charset="0"/>
              </a:rPr>
              <a:t>Proposed Methodology</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fontScale="70000"/>
          </a:bodyPr>
          <a:lstStyle/>
          <a:p>
            <a:pPr marL="152400" indent="0">
              <a:spcBef>
                <a:spcPts val="0"/>
              </a:spcBef>
              <a:buSzPct val="100000"/>
              <a:buNone/>
            </a:pPr>
            <a:r>
              <a:rPr lang="en-IN" altLang="en-US" sz="2570" b="1" dirty="0">
                <a:latin typeface="Cambria" panose="02040503050406030204" pitchFamily="18" charset="0"/>
                <a:ea typeface="Cambria" panose="02040503050406030204" pitchFamily="18" charset="0"/>
              </a:rPr>
              <a:t>1.</a:t>
            </a:r>
            <a:r>
              <a:rPr lang="en-US" altLang="en-US" sz="2570" b="1" dirty="0">
                <a:latin typeface="Cambria" panose="02040503050406030204" pitchFamily="18" charset="0"/>
                <a:ea typeface="Cambria" panose="02040503050406030204" pitchFamily="18" charset="0"/>
              </a:rPr>
              <a:t>Data Collection (NEP 2020 Aligned)</a:t>
            </a:r>
            <a:endParaRPr lang="en-US" altLang="en-US" sz="2570" dirty="0">
              <a:latin typeface="Cambria" panose="02040503050406030204" pitchFamily="18" charset="0"/>
              <a:ea typeface="Cambria" panose="02040503050406030204" pitchFamily="18" charset="0"/>
            </a:endParaRPr>
          </a:p>
          <a:p>
            <a:pPr marL="152400" indent="0">
              <a:spcBef>
                <a:spcPts val="0"/>
              </a:spcBef>
              <a:buSzPct val="100000"/>
              <a:buNone/>
            </a:pPr>
            <a:r>
              <a:rPr lang="en-US" altLang="en-US" sz="2570" dirty="0">
                <a:latin typeface="Cambria" panose="02040503050406030204" pitchFamily="18" charset="0"/>
                <a:ea typeface="Cambria" panose="02040503050406030204" pitchFamily="18" charset="0"/>
              </a:rPr>
              <a:t>Collect course structures, credits, programs (B.Ed., M.Ed., FYUP), faculty workload, and room availability.</a:t>
            </a:r>
            <a:endParaRPr lang="en-US" altLang="en-US" sz="2570" dirty="0">
              <a:latin typeface="Cambria" panose="02040503050406030204" pitchFamily="18" charset="0"/>
              <a:ea typeface="Cambria" panose="02040503050406030204" pitchFamily="18" charset="0"/>
            </a:endParaRPr>
          </a:p>
          <a:p>
            <a:pPr marL="152400" indent="0">
              <a:spcBef>
                <a:spcPts val="0"/>
              </a:spcBef>
              <a:buSzPct val="100000"/>
              <a:buNone/>
            </a:pPr>
            <a:endParaRPr lang="en-US" altLang="en-US" sz="2570" dirty="0">
              <a:latin typeface="Cambria" panose="02040503050406030204" pitchFamily="18" charset="0"/>
              <a:ea typeface="Cambria" panose="02040503050406030204" pitchFamily="18" charset="0"/>
            </a:endParaRPr>
          </a:p>
          <a:p>
            <a:pPr marL="152400" indent="0">
              <a:spcBef>
                <a:spcPts val="0"/>
              </a:spcBef>
              <a:buSzPct val="100000"/>
              <a:buNone/>
            </a:pPr>
            <a:r>
              <a:rPr lang="en-IN" altLang="en-US" sz="2570" b="1" dirty="0">
                <a:latin typeface="Cambria" panose="02040503050406030204" pitchFamily="18" charset="0"/>
                <a:ea typeface="Cambria" panose="02040503050406030204" pitchFamily="18" charset="0"/>
              </a:rPr>
              <a:t>2.</a:t>
            </a:r>
            <a:r>
              <a:rPr lang="en-US" altLang="en-US" sz="2570" b="1" dirty="0">
                <a:latin typeface="Cambria" panose="02040503050406030204" pitchFamily="18" charset="0"/>
                <a:ea typeface="Cambria" panose="02040503050406030204" pitchFamily="18" charset="0"/>
              </a:rPr>
              <a:t>Data Preprocessing &amp; Feature Preparation (AI Step)</a:t>
            </a:r>
            <a:endParaRPr lang="en-US" altLang="en-US" sz="2570" dirty="0">
              <a:latin typeface="Cambria" panose="02040503050406030204" pitchFamily="18" charset="0"/>
              <a:ea typeface="Cambria" panose="02040503050406030204" pitchFamily="18" charset="0"/>
            </a:endParaRPr>
          </a:p>
          <a:p>
            <a:pPr marL="152400" indent="0">
              <a:spcBef>
                <a:spcPts val="0"/>
              </a:spcBef>
              <a:buSzPct val="100000"/>
              <a:buNone/>
            </a:pPr>
            <a:r>
              <a:rPr lang="en-US" altLang="en-US" sz="2570" dirty="0">
                <a:latin typeface="Cambria" panose="02040503050406030204" pitchFamily="18" charset="0"/>
                <a:ea typeface="Cambria" panose="02040503050406030204" pitchFamily="18" charset="0"/>
              </a:rPr>
              <a:t>Convert academic data into machine-readable features such as course hours, faculty load, program type, and room capacity.</a:t>
            </a:r>
            <a:endParaRPr lang="en-US" altLang="en-US" sz="2570" dirty="0">
              <a:latin typeface="Cambria" panose="02040503050406030204" pitchFamily="18" charset="0"/>
              <a:ea typeface="Cambria" panose="02040503050406030204" pitchFamily="18" charset="0"/>
            </a:endParaRPr>
          </a:p>
          <a:p>
            <a:pPr marL="152400" indent="0">
              <a:spcBef>
                <a:spcPts val="0"/>
              </a:spcBef>
              <a:buSzPct val="100000"/>
              <a:buNone/>
            </a:pPr>
            <a:endParaRPr lang="en-US" altLang="en-US" sz="2570" dirty="0">
              <a:latin typeface="Cambria" panose="02040503050406030204" pitchFamily="18" charset="0"/>
              <a:ea typeface="Cambria" panose="02040503050406030204" pitchFamily="18" charset="0"/>
            </a:endParaRPr>
          </a:p>
          <a:p>
            <a:pPr marL="152400" indent="0">
              <a:spcBef>
                <a:spcPts val="0"/>
              </a:spcBef>
              <a:buSzPct val="100000"/>
              <a:buNone/>
            </a:pPr>
            <a:r>
              <a:rPr lang="en-IN" altLang="en-US" sz="2570" b="1" dirty="0">
                <a:latin typeface="Cambria" panose="02040503050406030204" pitchFamily="18" charset="0"/>
                <a:ea typeface="Cambria" panose="02040503050406030204" pitchFamily="18" charset="0"/>
              </a:rPr>
              <a:t>3.</a:t>
            </a:r>
            <a:r>
              <a:rPr lang="en-US" altLang="en-US" sz="2570" b="1" dirty="0">
                <a:latin typeface="Cambria" panose="02040503050406030204" pitchFamily="18" charset="0"/>
                <a:ea typeface="Cambria" panose="02040503050406030204" pitchFamily="18" charset="0"/>
              </a:rPr>
              <a:t>Constraint Modeling</a:t>
            </a:r>
            <a:endParaRPr lang="en-US" altLang="en-US" sz="2570" b="1" dirty="0">
              <a:latin typeface="Cambria" panose="02040503050406030204" pitchFamily="18" charset="0"/>
              <a:ea typeface="Cambria" panose="02040503050406030204" pitchFamily="18" charset="0"/>
            </a:endParaRPr>
          </a:p>
          <a:p>
            <a:pPr marL="152400" indent="0">
              <a:spcBef>
                <a:spcPts val="0"/>
              </a:spcBef>
              <a:buSzPct val="100000"/>
              <a:buNone/>
            </a:pPr>
            <a:r>
              <a:rPr lang="en-US" altLang="en-US" sz="2570" dirty="0">
                <a:latin typeface="Cambria" panose="02040503050406030204" pitchFamily="18" charset="0"/>
                <a:ea typeface="Cambria" panose="02040503050406030204" pitchFamily="18" charset="0"/>
              </a:rPr>
              <a:t>Define hard constraints (no clashes, credit limits) and soft constraints (balanced workload, optimized room usage).</a:t>
            </a:r>
            <a:endParaRPr lang="en-US" altLang="en-US" sz="2570" dirty="0">
              <a:latin typeface="Cambria" panose="02040503050406030204" pitchFamily="18" charset="0"/>
              <a:ea typeface="Cambria" panose="02040503050406030204" pitchFamily="18" charset="0"/>
            </a:endParaRPr>
          </a:p>
          <a:p>
            <a:pPr marL="152400" indent="0">
              <a:spcBef>
                <a:spcPts val="0"/>
              </a:spcBef>
              <a:buSzPct val="100000"/>
              <a:buNone/>
            </a:pPr>
            <a:endParaRPr lang="en-US" altLang="en-US" sz="2570" dirty="0">
              <a:latin typeface="Cambria" panose="02040503050406030204" pitchFamily="18" charset="0"/>
              <a:ea typeface="Cambria" panose="02040503050406030204" pitchFamily="18" charset="0"/>
            </a:endParaRPr>
          </a:p>
          <a:p>
            <a:pPr marL="152400" indent="0">
              <a:spcBef>
                <a:spcPts val="0"/>
              </a:spcBef>
              <a:buSzPct val="100000"/>
              <a:buNone/>
            </a:pPr>
            <a:r>
              <a:rPr lang="en-IN" altLang="en-US" sz="2570" b="1" dirty="0">
                <a:latin typeface="Cambria" panose="02040503050406030204" pitchFamily="18" charset="0"/>
                <a:ea typeface="Cambria" panose="02040503050406030204" pitchFamily="18" charset="0"/>
              </a:rPr>
              <a:t>4.</a:t>
            </a:r>
            <a:r>
              <a:rPr lang="en-US" altLang="en-US" sz="2570" b="1" dirty="0">
                <a:latin typeface="Cambria" panose="02040503050406030204" pitchFamily="18" charset="0"/>
                <a:ea typeface="Cambria" panose="02040503050406030204" pitchFamily="18" charset="0"/>
              </a:rPr>
              <a:t>AI-Assisted Scheduling Logic</a:t>
            </a:r>
            <a:endParaRPr lang="en-US" altLang="en-US" sz="2570" b="1" dirty="0">
              <a:latin typeface="Cambria" panose="02040503050406030204" pitchFamily="18" charset="0"/>
              <a:ea typeface="Cambria" panose="02040503050406030204" pitchFamily="18" charset="0"/>
            </a:endParaRPr>
          </a:p>
          <a:p>
            <a:pPr marL="152400" indent="0">
              <a:spcBef>
                <a:spcPts val="0"/>
              </a:spcBef>
              <a:buSzPct val="100000"/>
              <a:buNone/>
            </a:pPr>
            <a:r>
              <a:rPr lang="en-US" altLang="en-US" sz="2570" dirty="0">
                <a:latin typeface="Cambria" panose="02040503050406030204" pitchFamily="18" charset="0"/>
                <a:ea typeface="Cambria" panose="02040503050406030204" pitchFamily="18" charset="0"/>
              </a:rPr>
              <a:t>Use heuristic/AI-inspired decision logic (rule-based optimization with adaptive selection) to assign courses to slots.</a:t>
            </a:r>
            <a:endParaRPr lang="en-US" altLang="en-US" sz="2570" dirty="0">
              <a:latin typeface="Cambria" panose="02040503050406030204" pitchFamily="18" charset="0"/>
              <a:ea typeface="Cambria" panose="02040503050406030204" pitchFamily="18" charset="0"/>
            </a:endParaRPr>
          </a:p>
          <a:p>
            <a:pPr marL="152400" indent="0">
              <a:spcBef>
                <a:spcPts val="0"/>
              </a:spcBef>
              <a:buSzPct val="100000"/>
              <a:buNone/>
            </a:pPr>
            <a:endParaRPr lang="en-US" altLang="en-US" sz="2570" dirty="0">
              <a:latin typeface="Cambria" panose="02040503050406030204" pitchFamily="18" charset="0"/>
              <a:ea typeface="Cambria" panose="02040503050406030204" pitchFamily="18" charset="0"/>
            </a:endParaRPr>
          </a:p>
          <a:p>
            <a:pPr marL="152400" indent="0">
              <a:spcBef>
                <a:spcPts val="0"/>
              </a:spcBef>
              <a:buSzPct val="100000"/>
              <a:buNone/>
            </a:pPr>
            <a:r>
              <a:rPr lang="en-IN" altLang="en-US" sz="2570" b="1" dirty="0">
                <a:latin typeface="Cambria" panose="02040503050406030204" pitchFamily="18" charset="0"/>
                <a:ea typeface="Cambria" panose="02040503050406030204" pitchFamily="18" charset="0"/>
              </a:rPr>
              <a:t>5.</a:t>
            </a:r>
            <a:r>
              <a:rPr lang="en-US" altLang="en-US" sz="2570" b="1" dirty="0">
                <a:latin typeface="Cambria" panose="02040503050406030204" pitchFamily="18" charset="0"/>
                <a:ea typeface="Cambria" panose="02040503050406030204" pitchFamily="18" charset="0"/>
              </a:rPr>
              <a:t>Program-wise Timetable Generation</a:t>
            </a:r>
            <a:endParaRPr lang="en-US" altLang="en-US" sz="2570" b="1" dirty="0">
              <a:latin typeface="Cambria" panose="02040503050406030204" pitchFamily="18" charset="0"/>
              <a:ea typeface="Cambria" panose="02040503050406030204" pitchFamily="18" charset="0"/>
            </a:endParaRPr>
          </a:p>
          <a:p>
            <a:pPr marL="152400" indent="0">
              <a:spcBef>
                <a:spcPts val="0"/>
              </a:spcBef>
              <a:buSzPct val="100000"/>
              <a:buNone/>
            </a:pPr>
            <a:r>
              <a:rPr lang="en-US" altLang="en-US" sz="2570" dirty="0">
                <a:latin typeface="Cambria" panose="02040503050406030204" pitchFamily="18" charset="0"/>
                <a:ea typeface="Cambria" panose="02040503050406030204" pitchFamily="18" charset="0"/>
              </a:rPr>
              <a:t>Generate separate timetables for each program to support multidisciplinary education.</a:t>
            </a:r>
            <a:endParaRPr lang="en-US" altLang="en-US" sz="2570" dirty="0">
              <a:latin typeface="Cambria" panose="02040503050406030204" pitchFamily="18" charset="0"/>
              <a:ea typeface="Cambria" panose="020405030504060302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IN" dirty="0">
                <a:latin typeface="Times New Roman" panose="02020603050405020304" pitchFamily="18" charset="0"/>
                <a:ea typeface="Cambria" panose="02040503050406030204" pitchFamily="18" charset="0"/>
                <a:cs typeface="Times New Roman" panose="02020603050405020304" pitchFamily="18" charset="0"/>
              </a:rPr>
              <a:t>Proposed Methodology</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152400" indent="0">
              <a:spcBef>
                <a:spcPts val="0"/>
              </a:spcBef>
              <a:buSzPct val="100000"/>
              <a:buNone/>
            </a:pPr>
            <a:r>
              <a:rPr lang="en-IN" altLang="en-US" sz="2000" b="1" dirty="0">
                <a:latin typeface="Cambria" panose="02040503050406030204" pitchFamily="18" charset="0"/>
                <a:ea typeface="Cambria" panose="02040503050406030204" pitchFamily="18" charset="0"/>
              </a:rPr>
              <a:t>6.</a:t>
            </a:r>
            <a:r>
              <a:rPr lang="en-US" altLang="en-US" sz="2000" b="1" dirty="0">
                <a:latin typeface="Cambria" panose="02040503050406030204" pitchFamily="18" charset="0"/>
                <a:ea typeface="Cambria" panose="02040503050406030204" pitchFamily="18" charset="0"/>
              </a:rPr>
              <a:t>Conflict Detection using Intelligent Rules</a:t>
            </a:r>
            <a:endParaRPr lang="en-US" altLang="en-US" sz="2000" b="1" dirty="0">
              <a:latin typeface="Cambria" panose="02040503050406030204" pitchFamily="18" charset="0"/>
              <a:ea typeface="Cambria" panose="02040503050406030204" pitchFamily="18" charset="0"/>
            </a:endParaRPr>
          </a:p>
          <a:p>
            <a:pPr marL="152400" indent="0">
              <a:spcBef>
                <a:spcPts val="0"/>
              </a:spcBef>
              <a:buSzPct val="100000"/>
              <a:buNone/>
            </a:pPr>
            <a:r>
              <a:rPr lang="en-US" altLang="en-US" sz="2000" dirty="0">
                <a:latin typeface="Cambria" panose="02040503050406030204" pitchFamily="18" charset="0"/>
                <a:ea typeface="Cambria" panose="02040503050406030204" pitchFamily="18" charset="0"/>
              </a:rPr>
              <a:t>Automatically detect conflicts using constraint checks and reassign slots dynamically.</a:t>
            </a:r>
            <a:endParaRPr lang="en-US" altLang="en-US" sz="2000" dirty="0">
              <a:latin typeface="Cambria" panose="02040503050406030204" pitchFamily="18" charset="0"/>
              <a:ea typeface="Cambria" panose="02040503050406030204" pitchFamily="18" charset="0"/>
            </a:endParaRPr>
          </a:p>
          <a:p>
            <a:pPr marL="152400" indent="0">
              <a:spcBef>
                <a:spcPts val="0"/>
              </a:spcBef>
              <a:buSzPct val="100000"/>
              <a:buNone/>
            </a:pPr>
            <a:endParaRPr lang="en-US" altLang="en-US" sz="2000" dirty="0">
              <a:latin typeface="Cambria" panose="02040503050406030204" pitchFamily="18" charset="0"/>
              <a:ea typeface="Cambria" panose="02040503050406030204" pitchFamily="18" charset="0"/>
            </a:endParaRPr>
          </a:p>
          <a:p>
            <a:pPr marL="152400" indent="0">
              <a:spcBef>
                <a:spcPts val="0"/>
              </a:spcBef>
              <a:buSzPct val="100000"/>
              <a:buNone/>
            </a:pPr>
            <a:r>
              <a:rPr lang="en-IN" altLang="en-US" sz="2000" b="1" dirty="0">
                <a:latin typeface="Cambria" panose="02040503050406030204" pitchFamily="18" charset="0"/>
                <a:ea typeface="Cambria" panose="02040503050406030204" pitchFamily="18" charset="0"/>
              </a:rPr>
              <a:t>7.</a:t>
            </a:r>
            <a:r>
              <a:rPr lang="en-US" altLang="en-US" sz="2000" b="1" dirty="0">
                <a:latin typeface="Cambria" panose="02040503050406030204" pitchFamily="18" charset="0"/>
                <a:ea typeface="Cambria" panose="02040503050406030204" pitchFamily="18" charset="0"/>
              </a:rPr>
              <a:t>Optimization &amp; Refinement (AI Aspect)</a:t>
            </a:r>
            <a:endParaRPr lang="en-US" altLang="en-US" sz="2000" b="1" dirty="0">
              <a:latin typeface="Cambria" panose="02040503050406030204" pitchFamily="18" charset="0"/>
              <a:ea typeface="Cambria" panose="02040503050406030204" pitchFamily="18" charset="0"/>
            </a:endParaRPr>
          </a:p>
          <a:p>
            <a:pPr marL="152400" indent="0">
              <a:spcBef>
                <a:spcPts val="0"/>
              </a:spcBef>
              <a:buSzPct val="100000"/>
              <a:buNone/>
            </a:pPr>
            <a:r>
              <a:rPr lang="en-US" altLang="en-US" sz="2000" dirty="0">
                <a:latin typeface="Cambria" panose="02040503050406030204" pitchFamily="18" charset="0"/>
                <a:ea typeface="Cambria" panose="02040503050406030204" pitchFamily="18" charset="0"/>
              </a:rPr>
              <a:t>Iteratively improve the timetable by minimizing idle slots and balancing faculty workload.</a:t>
            </a:r>
            <a:endParaRPr lang="en-US" altLang="en-US" sz="2000" dirty="0">
              <a:latin typeface="Cambria" panose="02040503050406030204" pitchFamily="18" charset="0"/>
              <a:ea typeface="Cambria" panose="02040503050406030204" pitchFamily="18" charset="0"/>
            </a:endParaRPr>
          </a:p>
          <a:p>
            <a:pPr marL="152400" indent="0">
              <a:spcBef>
                <a:spcPts val="0"/>
              </a:spcBef>
              <a:buSzPct val="100000"/>
              <a:buNone/>
            </a:pPr>
            <a:endParaRPr lang="en-US" altLang="en-US" sz="2000" dirty="0">
              <a:latin typeface="Cambria" panose="02040503050406030204" pitchFamily="18" charset="0"/>
              <a:ea typeface="Cambria" panose="02040503050406030204" pitchFamily="18" charset="0"/>
            </a:endParaRPr>
          </a:p>
          <a:p>
            <a:pPr marL="152400" indent="0">
              <a:spcBef>
                <a:spcPts val="0"/>
              </a:spcBef>
              <a:buSzPct val="100000"/>
              <a:buNone/>
            </a:pPr>
            <a:r>
              <a:rPr lang="en-IN" altLang="en-US" sz="2000" b="1" dirty="0">
                <a:latin typeface="Cambria" panose="02040503050406030204" pitchFamily="18" charset="0"/>
                <a:ea typeface="Cambria" panose="02040503050406030204" pitchFamily="18" charset="0"/>
              </a:rPr>
              <a:t>8.</a:t>
            </a:r>
            <a:r>
              <a:rPr lang="en-US" altLang="en-US" sz="2000" b="1" dirty="0">
                <a:latin typeface="Cambria" panose="02040503050406030204" pitchFamily="18" charset="0"/>
                <a:ea typeface="Cambria" panose="02040503050406030204" pitchFamily="18" charset="0"/>
              </a:rPr>
              <a:t>Timetable Visualization</a:t>
            </a:r>
            <a:endParaRPr lang="en-US" altLang="en-US" sz="2000" b="1" dirty="0">
              <a:latin typeface="Cambria" panose="02040503050406030204" pitchFamily="18" charset="0"/>
              <a:ea typeface="Cambria" panose="02040503050406030204" pitchFamily="18" charset="0"/>
            </a:endParaRPr>
          </a:p>
          <a:p>
            <a:pPr marL="152400" indent="0">
              <a:spcBef>
                <a:spcPts val="0"/>
              </a:spcBef>
              <a:buSzPct val="100000"/>
              <a:buNone/>
            </a:pPr>
            <a:r>
              <a:rPr lang="en-US" altLang="en-US" sz="2000" dirty="0">
                <a:latin typeface="Cambria" panose="02040503050406030204" pitchFamily="18" charset="0"/>
                <a:ea typeface="Cambria" panose="02040503050406030204" pitchFamily="18" charset="0"/>
              </a:rPr>
              <a:t>Display the finalized timetable in a user-friendly tabular format.</a:t>
            </a:r>
            <a:endParaRPr lang="en-US" altLang="en-US" sz="2000" dirty="0">
              <a:latin typeface="Cambria" panose="02040503050406030204" pitchFamily="18" charset="0"/>
              <a:ea typeface="Cambria" panose="02040503050406030204" pitchFamily="18" charset="0"/>
            </a:endParaRPr>
          </a:p>
          <a:p>
            <a:pPr marL="152400" indent="0">
              <a:spcBef>
                <a:spcPts val="0"/>
              </a:spcBef>
              <a:buSzPct val="100000"/>
              <a:buNone/>
            </a:pPr>
            <a:endParaRPr lang="en-US" altLang="en-US" sz="2000" dirty="0">
              <a:latin typeface="Cambria" panose="02040503050406030204" pitchFamily="18" charset="0"/>
              <a:ea typeface="Cambria" panose="02040503050406030204" pitchFamily="18" charset="0"/>
            </a:endParaRPr>
          </a:p>
          <a:p>
            <a:pPr marL="152400" indent="0">
              <a:spcBef>
                <a:spcPts val="0"/>
              </a:spcBef>
              <a:buSzPct val="100000"/>
              <a:buNone/>
            </a:pPr>
            <a:r>
              <a:rPr lang="en-IN" altLang="en-US" sz="2000" b="1" dirty="0">
                <a:latin typeface="Cambria" panose="02040503050406030204" pitchFamily="18" charset="0"/>
                <a:ea typeface="Cambria" panose="02040503050406030204" pitchFamily="18" charset="0"/>
              </a:rPr>
              <a:t>9.</a:t>
            </a:r>
            <a:r>
              <a:rPr lang="en-US" altLang="en-US" sz="2000" b="1" dirty="0">
                <a:latin typeface="Cambria" panose="02040503050406030204" pitchFamily="18" charset="0"/>
                <a:ea typeface="Cambria" panose="02040503050406030204" pitchFamily="18" charset="0"/>
              </a:rPr>
              <a:t>Filtering and User Interaction</a:t>
            </a:r>
            <a:endParaRPr lang="en-US" altLang="en-US" sz="2000" dirty="0">
              <a:latin typeface="Cambria" panose="02040503050406030204" pitchFamily="18" charset="0"/>
              <a:ea typeface="Cambria" panose="02040503050406030204" pitchFamily="18" charset="0"/>
            </a:endParaRPr>
          </a:p>
          <a:p>
            <a:pPr marL="152400" indent="0">
              <a:spcBef>
                <a:spcPts val="0"/>
              </a:spcBef>
              <a:buSzPct val="100000"/>
              <a:buNone/>
            </a:pPr>
            <a:r>
              <a:rPr lang="en-US" altLang="en-US" sz="2000" dirty="0">
                <a:latin typeface="Cambria" panose="02040503050406030204" pitchFamily="18" charset="0"/>
                <a:ea typeface="Cambria" panose="02040503050406030204" pitchFamily="18" charset="0"/>
              </a:rPr>
              <a:t>Allow users to filter timetables by program, faculty, or room.</a:t>
            </a:r>
            <a:endParaRPr lang="en-US" altLang="en-US" sz="2000" dirty="0">
              <a:latin typeface="Cambria" panose="02040503050406030204" pitchFamily="18" charset="0"/>
              <a:ea typeface="Cambria" panose="02040503050406030204" pitchFamily="18" charset="0"/>
            </a:endParaRPr>
          </a:p>
          <a:p>
            <a:pPr marL="152400" indent="0">
              <a:spcBef>
                <a:spcPts val="0"/>
              </a:spcBef>
              <a:buSzPct val="100000"/>
              <a:buNone/>
            </a:pPr>
            <a:endParaRPr lang="en-US" altLang="en-US" sz="2000" dirty="0">
              <a:latin typeface="Cambria" panose="02040503050406030204" pitchFamily="18" charset="0"/>
              <a:ea typeface="Cambria" panose="02040503050406030204" pitchFamily="18" charset="0"/>
            </a:endParaRPr>
          </a:p>
          <a:p>
            <a:pPr marL="152400" indent="0">
              <a:spcBef>
                <a:spcPts val="0"/>
              </a:spcBef>
              <a:buSzPct val="100000"/>
              <a:buNone/>
            </a:pPr>
            <a:r>
              <a:rPr lang="en-IN" altLang="en-US" sz="2000" b="1" dirty="0">
                <a:latin typeface="Cambria" panose="02040503050406030204" pitchFamily="18" charset="0"/>
                <a:ea typeface="Cambria" panose="02040503050406030204" pitchFamily="18" charset="0"/>
              </a:rPr>
              <a:t>10.</a:t>
            </a:r>
            <a:r>
              <a:rPr lang="en-US" altLang="en-US" sz="2000" b="1" dirty="0">
                <a:latin typeface="Cambria" panose="02040503050406030204" pitchFamily="18" charset="0"/>
                <a:ea typeface="Cambria" panose="02040503050406030204" pitchFamily="18" charset="0"/>
              </a:rPr>
              <a:t>Output Generation (Future Scope)</a:t>
            </a:r>
            <a:endParaRPr lang="en-US" altLang="en-US" sz="2000" b="1" dirty="0">
              <a:latin typeface="Cambria" panose="02040503050406030204" pitchFamily="18" charset="0"/>
              <a:ea typeface="Cambria" panose="02040503050406030204" pitchFamily="18" charset="0"/>
            </a:endParaRPr>
          </a:p>
          <a:p>
            <a:pPr marL="152400" indent="0">
              <a:spcBef>
                <a:spcPts val="0"/>
              </a:spcBef>
              <a:buSzPct val="100000"/>
              <a:buNone/>
            </a:pPr>
            <a:r>
              <a:rPr lang="en-US" altLang="en-US" sz="2000" dirty="0">
                <a:latin typeface="Cambria" panose="02040503050406030204" pitchFamily="18" charset="0"/>
                <a:ea typeface="Cambria" panose="02040503050406030204" pitchFamily="18" charset="0"/>
              </a:rPr>
              <a:t>Support export of optimized timetables to PDF/Excel formats.</a:t>
            </a:r>
            <a:endParaRPr lang="en-US" altLang="en-US" sz="2000" dirty="0">
              <a:latin typeface="Cambria" panose="02040503050406030204" pitchFamily="18" charset="0"/>
              <a:ea typeface="Cambria" panose="020405030504060302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ea typeface="Cambria" panose="02040503050406030204" pitchFamily="18" charset="0"/>
                <a:cs typeface="Times New Roman" panose="02020603050405020304" pitchFamily="18" charset="0"/>
              </a:rPr>
              <a:t>Proposed Methodology</a:t>
            </a:r>
            <a:endParaRPr lang="en-IN" dirty="0"/>
          </a:p>
        </p:txBody>
      </p:sp>
      <p:sp>
        <p:nvSpPr>
          <p:cNvPr id="3" name="Text Placeholder 2"/>
          <p:cNvSpPr>
            <a:spLocks noGrp="1"/>
          </p:cNvSpPr>
          <p:nvPr>
            <p:ph type="body" idx="1"/>
          </p:nvPr>
        </p:nvSpPr>
        <p:spPr/>
        <p:txBody>
          <a:bodyPr/>
          <a:lstStyle/>
          <a:p>
            <a:pPr marL="76200" indent="0">
              <a:buNone/>
            </a:pPr>
            <a:r>
              <a:rPr lang="en-IN" b="1" dirty="0">
                <a:latin typeface="Times New Roman" panose="02020603050405020304" pitchFamily="18" charset="0"/>
                <a:cs typeface="Times New Roman" panose="02020603050405020304" pitchFamily="18" charset="0"/>
              </a:rPr>
              <a:t>Flowchart</a:t>
            </a:r>
            <a:endParaRPr lang="en-IN" b="1" dirty="0">
              <a:latin typeface="Times New Roman" panose="02020603050405020304" pitchFamily="18" charset="0"/>
              <a:cs typeface="Times New Roman" panose="02020603050405020304" pitchFamily="18" charset="0"/>
            </a:endParaRPr>
          </a:p>
          <a:p>
            <a:pPr marL="76200" indent="0">
              <a:buNone/>
            </a:pPr>
            <a:endParaRPr lang="en-IN" dirty="0"/>
          </a:p>
        </p:txBody>
      </p:sp>
      <p:pic>
        <p:nvPicPr>
          <p:cNvPr id="4" name="Picture 3" descr="R2_flowchart"/>
          <p:cNvPicPr>
            <a:picLocks noChangeAspect="1"/>
          </p:cNvPicPr>
          <p:nvPr/>
        </p:nvPicPr>
        <p:blipFill>
          <a:blip r:embed="rId1"/>
          <a:stretch>
            <a:fillRect/>
          </a:stretch>
        </p:blipFill>
        <p:spPr>
          <a:xfrm>
            <a:off x="1929130" y="1744345"/>
            <a:ext cx="7843520" cy="427863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Modules</a:t>
            </a:r>
            <a:endParaRPr lang="en-IN" dirty="0"/>
          </a:p>
        </p:txBody>
      </p:sp>
      <p:sp>
        <p:nvSpPr>
          <p:cNvPr id="5" name="Rectangle 2"/>
          <p:cNvSpPr>
            <a:spLocks noGrp="1" noChangeArrowheads="1"/>
          </p:cNvSpPr>
          <p:nvPr>
            <p:ph type="body" idx="1"/>
          </p:nvPr>
        </p:nvSpPr>
        <p:spPr bwMode="auto">
          <a:xfrm>
            <a:off x="812800" y="1146175"/>
            <a:ext cx="10667365" cy="529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76200" indent="0" algn="l">
              <a:lnSpc>
                <a:spcPct val="110000"/>
              </a:lnSpc>
              <a:buNone/>
            </a:pPr>
            <a:r>
              <a:rPr lang="en-US" altLang="en-US" sz="2000" b="1" dirty="0">
                <a:latin typeface="Cambria" panose="02040503050406030204" pitchFamily="18" charset="0"/>
                <a:ea typeface="Cambria" panose="02040503050406030204" pitchFamily="18" charset="0"/>
              </a:rPr>
              <a:t>1. Frontend User Interface Module</a:t>
            </a:r>
            <a:endParaRPr lang="en-US" altLang="en-US" sz="2000" b="1" dirty="0">
              <a:latin typeface="Cambria" panose="02040503050406030204" pitchFamily="18" charset="0"/>
              <a:ea typeface="Cambria" panose="02040503050406030204" pitchFamily="18" charset="0"/>
            </a:endParaRPr>
          </a:p>
          <a:p>
            <a:pPr algn="l">
              <a:lnSpc>
                <a:spcPct val="110000"/>
              </a:lnSpc>
            </a:pPr>
            <a:r>
              <a:rPr lang="en-US" altLang="en-US" sz="2000" dirty="0">
                <a:latin typeface="Cambria" panose="02040503050406030204" pitchFamily="18" charset="0"/>
                <a:ea typeface="Cambria" panose="02040503050406030204" pitchFamily="18" charset="0"/>
              </a:rPr>
              <a:t>Handles user interaction, data input, and timetable visualization.</a:t>
            </a:r>
            <a:endParaRPr lang="en-US" altLang="en-US" sz="2000" dirty="0">
              <a:latin typeface="Cambria" panose="02040503050406030204" pitchFamily="18" charset="0"/>
              <a:ea typeface="Cambria" panose="02040503050406030204" pitchFamily="18" charset="0"/>
            </a:endParaRPr>
          </a:p>
          <a:p>
            <a:pPr algn="l">
              <a:lnSpc>
                <a:spcPct val="110000"/>
              </a:lnSpc>
            </a:pPr>
            <a:r>
              <a:rPr lang="en-US" altLang="en-US" sz="2000" dirty="0">
                <a:latin typeface="Cambria" panose="02040503050406030204" pitchFamily="18" charset="0"/>
                <a:ea typeface="Cambria" panose="02040503050406030204" pitchFamily="18" charset="0"/>
              </a:rPr>
              <a:t>Component: Frontend (HTML, CSS, JavaScript)</a:t>
            </a:r>
            <a:endParaRPr lang="en-US" altLang="en-US" sz="2000" dirty="0">
              <a:latin typeface="Cambria" panose="02040503050406030204" pitchFamily="18" charset="0"/>
              <a:ea typeface="Cambria" panose="02040503050406030204" pitchFamily="18" charset="0"/>
            </a:endParaRPr>
          </a:p>
          <a:p>
            <a:pPr marL="76200" indent="0" algn="l">
              <a:lnSpc>
                <a:spcPct val="110000"/>
              </a:lnSpc>
              <a:buNone/>
            </a:pPr>
            <a:r>
              <a:rPr lang="en-US" altLang="en-US" sz="2000" b="1" dirty="0">
                <a:latin typeface="Cambria" panose="02040503050406030204" pitchFamily="18" charset="0"/>
                <a:ea typeface="Cambria" panose="02040503050406030204" pitchFamily="18" charset="0"/>
              </a:rPr>
              <a:t>2. Academic Data Management Module</a:t>
            </a:r>
            <a:endParaRPr lang="en-US" altLang="en-US" sz="2000" b="1" dirty="0">
              <a:latin typeface="Cambria" panose="02040503050406030204" pitchFamily="18" charset="0"/>
              <a:ea typeface="Cambria" panose="02040503050406030204" pitchFamily="18" charset="0"/>
            </a:endParaRPr>
          </a:p>
          <a:p>
            <a:pPr algn="l">
              <a:lnSpc>
                <a:spcPct val="110000"/>
              </a:lnSpc>
            </a:pPr>
            <a:r>
              <a:rPr lang="en-US" altLang="en-US" sz="2000" dirty="0">
                <a:latin typeface="Cambria" panose="02040503050406030204" pitchFamily="18" charset="0"/>
                <a:ea typeface="Cambria" panose="02040503050406030204" pitchFamily="18" charset="0"/>
              </a:rPr>
              <a:t>Manages course, faculty, student, program, and room data.</a:t>
            </a:r>
            <a:endParaRPr lang="en-US" altLang="en-US" sz="2000" dirty="0">
              <a:latin typeface="Cambria" panose="02040503050406030204" pitchFamily="18" charset="0"/>
              <a:ea typeface="Cambria" panose="02040503050406030204" pitchFamily="18" charset="0"/>
            </a:endParaRPr>
          </a:p>
          <a:p>
            <a:pPr algn="l">
              <a:lnSpc>
                <a:spcPct val="110000"/>
              </a:lnSpc>
            </a:pPr>
            <a:r>
              <a:rPr lang="en-US" altLang="en-US" sz="2000" dirty="0">
                <a:latin typeface="Cambria" panose="02040503050406030204" pitchFamily="18" charset="0"/>
                <a:ea typeface="Cambria" panose="02040503050406030204" pitchFamily="18" charset="0"/>
              </a:rPr>
              <a:t>Performs basic validation and structured storage.</a:t>
            </a:r>
            <a:endParaRPr lang="en-US" altLang="en-US" sz="2000" dirty="0">
              <a:latin typeface="Cambria" panose="02040503050406030204" pitchFamily="18" charset="0"/>
              <a:ea typeface="Cambria" panose="02040503050406030204" pitchFamily="18" charset="0"/>
            </a:endParaRPr>
          </a:p>
          <a:p>
            <a:pPr algn="l">
              <a:lnSpc>
                <a:spcPct val="110000"/>
              </a:lnSpc>
            </a:pPr>
            <a:r>
              <a:rPr lang="en-US" altLang="en-US" sz="2000" dirty="0">
                <a:latin typeface="Cambria" panose="02040503050406030204" pitchFamily="18" charset="0"/>
                <a:ea typeface="Cambria" panose="02040503050406030204" pitchFamily="18" charset="0"/>
              </a:rPr>
              <a:t>Component: Frontend (JS data structures)</a:t>
            </a:r>
            <a:endParaRPr lang="en-US" altLang="en-US" sz="2000" dirty="0">
              <a:latin typeface="Cambria" panose="02040503050406030204" pitchFamily="18" charset="0"/>
              <a:ea typeface="Cambria" panose="02040503050406030204" pitchFamily="18" charset="0"/>
            </a:endParaRPr>
          </a:p>
          <a:p>
            <a:pPr marL="76200" indent="0" algn="l">
              <a:lnSpc>
                <a:spcPct val="110000"/>
              </a:lnSpc>
              <a:buNone/>
            </a:pPr>
            <a:r>
              <a:rPr lang="en-US" altLang="en-US" sz="2000" dirty="0">
                <a:latin typeface="Cambria" panose="02040503050406030204" pitchFamily="18" charset="0"/>
                <a:ea typeface="Cambria" panose="02040503050406030204" pitchFamily="18" charset="0"/>
              </a:rPr>
              <a:t>(Backend database – future scope)</a:t>
            </a:r>
            <a:endParaRPr lang="en-US" altLang="en-US" sz="2000" dirty="0">
              <a:latin typeface="Cambria" panose="02040503050406030204" pitchFamily="18" charset="0"/>
              <a:ea typeface="Cambria" panose="02040503050406030204" pitchFamily="18" charset="0"/>
            </a:endParaRPr>
          </a:p>
          <a:p>
            <a:pPr marL="76200" indent="0" algn="l">
              <a:lnSpc>
                <a:spcPct val="110000"/>
              </a:lnSpc>
              <a:buNone/>
            </a:pPr>
            <a:r>
              <a:rPr lang="en-US" altLang="en-US" sz="2000" b="1" dirty="0">
                <a:latin typeface="Cambria" panose="02040503050406030204" pitchFamily="18" charset="0"/>
                <a:ea typeface="Cambria" panose="02040503050406030204" pitchFamily="18" charset="0"/>
              </a:rPr>
              <a:t>3. Constraint Modeling Module</a:t>
            </a:r>
            <a:endParaRPr lang="en-US" altLang="en-US" sz="2000" b="1" dirty="0">
              <a:latin typeface="Cambria" panose="02040503050406030204" pitchFamily="18" charset="0"/>
              <a:ea typeface="Cambria" panose="02040503050406030204" pitchFamily="18" charset="0"/>
            </a:endParaRPr>
          </a:p>
          <a:p>
            <a:pPr algn="l">
              <a:lnSpc>
                <a:spcPct val="110000"/>
              </a:lnSpc>
            </a:pPr>
            <a:r>
              <a:rPr lang="en-US" altLang="en-US" sz="2000" dirty="0">
                <a:latin typeface="Cambria" panose="02040503050406030204" pitchFamily="18" charset="0"/>
                <a:ea typeface="Cambria" panose="02040503050406030204" pitchFamily="18" charset="0"/>
              </a:rPr>
              <a:t>Defines and enforces hard constraints such as no clashes, program separation, credit limits, and room capacity.</a:t>
            </a:r>
            <a:endParaRPr lang="en-US" altLang="en-US" sz="2000" dirty="0">
              <a:latin typeface="Cambria" panose="02040503050406030204" pitchFamily="18" charset="0"/>
              <a:ea typeface="Cambria" panose="02040503050406030204" pitchFamily="18" charset="0"/>
            </a:endParaRPr>
          </a:p>
          <a:p>
            <a:pPr algn="l">
              <a:lnSpc>
                <a:spcPct val="110000"/>
              </a:lnSpc>
            </a:pPr>
            <a:r>
              <a:rPr lang="en-US" altLang="en-US" sz="2000" dirty="0">
                <a:latin typeface="Cambria" panose="02040503050406030204" pitchFamily="18" charset="0"/>
                <a:ea typeface="Cambria" panose="02040503050406030204" pitchFamily="18" charset="0"/>
              </a:rPr>
              <a:t>Component: Frontend Logic (JavaScript)</a:t>
            </a:r>
            <a:endParaRPr lang="en-US" altLang="en-US" sz="2000" dirty="0">
              <a:latin typeface="Cambria" panose="02040503050406030204" pitchFamily="18" charset="0"/>
              <a:ea typeface="Cambria" panose="02040503050406030204" pitchFamily="18" charset="0"/>
            </a:endParaRPr>
          </a:p>
          <a:p>
            <a:pPr marL="76200" indent="0" algn="l">
              <a:lnSpc>
                <a:spcPct val="150000"/>
              </a:lnSpc>
              <a:buNone/>
            </a:pPr>
            <a:endParaRPr lang="en-US" altLang="en-US" sz="2000" dirty="0">
              <a:latin typeface="Cambria" panose="02040503050406030204" pitchFamily="18" charset="0"/>
              <a:ea typeface="Cambria" panose="020405030504060302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dirty="0">
                <a:sym typeface="+mn-ea"/>
              </a:rPr>
              <a:t>Modules</a:t>
            </a:r>
            <a:endParaRPr lang="en-US"/>
          </a:p>
        </p:txBody>
      </p:sp>
      <p:sp>
        <p:nvSpPr>
          <p:cNvPr id="3" name="Text Placeholder 2"/>
          <p:cNvSpPr>
            <a:spLocks noGrp="1"/>
          </p:cNvSpPr>
          <p:nvPr>
            <p:ph type="body" idx="1"/>
          </p:nvPr>
        </p:nvSpPr>
        <p:spPr/>
        <p:txBody>
          <a:bodyPr/>
          <a:p>
            <a:pPr marL="76200" indent="0">
              <a:lnSpc>
                <a:spcPct val="50000"/>
              </a:lnSpc>
              <a:buNone/>
            </a:pPr>
            <a:r>
              <a:rPr lang="en-US" altLang="en-US" sz="2000" b="1">
                <a:latin typeface="Cambria" panose="02040503050406030204" pitchFamily="18" charset="0"/>
                <a:cs typeface="Cambria" panose="02040503050406030204" pitchFamily="18" charset="0"/>
              </a:rPr>
              <a:t>4. AI-Assisted Scheduling &amp; Optimization Module</a:t>
            </a:r>
            <a:endParaRPr lang="en-US" altLang="en-US" sz="2000" b="1">
              <a:latin typeface="Cambria" panose="02040503050406030204" pitchFamily="18" charset="0"/>
              <a:cs typeface="Cambria" panose="02040503050406030204" pitchFamily="18" charset="0"/>
            </a:endParaRPr>
          </a:p>
          <a:p>
            <a:pPr>
              <a:lnSpc>
                <a:spcPct val="50000"/>
              </a:lnSpc>
            </a:pPr>
            <a:endParaRPr lang="en-US" altLang="en-US" sz="2000">
              <a:latin typeface="Cambria" panose="02040503050406030204" pitchFamily="18" charset="0"/>
              <a:cs typeface="Cambria" panose="02040503050406030204" pitchFamily="18" charset="0"/>
            </a:endParaRPr>
          </a:p>
          <a:p>
            <a:pPr>
              <a:lnSpc>
                <a:spcPct val="50000"/>
              </a:lnSpc>
            </a:pPr>
            <a:r>
              <a:rPr lang="en-US" altLang="en-US" sz="2000">
                <a:latin typeface="Cambria" panose="02040503050406030204" pitchFamily="18" charset="0"/>
                <a:cs typeface="Cambria" panose="02040503050406030204" pitchFamily="18" charset="0"/>
              </a:rPr>
              <a:t>Uses heuristic-based intelligent logic to allocate courses, faculty, and rooms into time slots.</a:t>
            </a:r>
            <a:endParaRPr lang="en-US" altLang="en-US" sz="2000">
              <a:latin typeface="Cambria" panose="02040503050406030204" pitchFamily="18" charset="0"/>
              <a:cs typeface="Cambria" panose="02040503050406030204" pitchFamily="18" charset="0"/>
            </a:endParaRPr>
          </a:p>
          <a:p>
            <a:pPr>
              <a:lnSpc>
                <a:spcPct val="50000"/>
              </a:lnSpc>
            </a:pPr>
            <a:endParaRPr lang="en-US" altLang="en-US" sz="2000">
              <a:latin typeface="Cambria" panose="02040503050406030204" pitchFamily="18" charset="0"/>
              <a:cs typeface="Cambria" panose="02040503050406030204" pitchFamily="18" charset="0"/>
            </a:endParaRPr>
          </a:p>
          <a:p>
            <a:pPr>
              <a:lnSpc>
                <a:spcPct val="50000"/>
              </a:lnSpc>
            </a:pPr>
            <a:r>
              <a:rPr lang="en-US" altLang="en-US" sz="2000">
                <a:latin typeface="Cambria" panose="02040503050406030204" pitchFamily="18" charset="0"/>
                <a:cs typeface="Cambria" panose="02040503050406030204" pitchFamily="18" charset="0"/>
              </a:rPr>
              <a:t>Iteratively refines timetable to reduce conflicts and balance workload.</a:t>
            </a:r>
            <a:endParaRPr lang="en-US" altLang="en-US" sz="2000">
              <a:latin typeface="Cambria" panose="02040503050406030204" pitchFamily="18" charset="0"/>
              <a:cs typeface="Cambria" panose="02040503050406030204" pitchFamily="18" charset="0"/>
            </a:endParaRPr>
          </a:p>
          <a:p>
            <a:pPr>
              <a:lnSpc>
                <a:spcPct val="50000"/>
              </a:lnSpc>
            </a:pPr>
            <a:endParaRPr lang="en-US" altLang="en-US" sz="2000">
              <a:latin typeface="Cambria" panose="02040503050406030204" pitchFamily="18" charset="0"/>
              <a:cs typeface="Cambria" panose="02040503050406030204" pitchFamily="18" charset="0"/>
            </a:endParaRPr>
          </a:p>
          <a:p>
            <a:pPr>
              <a:lnSpc>
                <a:spcPct val="80000"/>
              </a:lnSpc>
            </a:pPr>
            <a:r>
              <a:rPr lang="en-US" altLang="en-US" sz="2000">
                <a:latin typeface="Cambria" panose="02040503050406030204" pitchFamily="18" charset="0"/>
                <a:cs typeface="Cambria" panose="02040503050406030204" pitchFamily="18" charset="0"/>
              </a:rPr>
              <a:t>Component: Frontend Scheduling Engine</a:t>
            </a:r>
            <a:endParaRPr lang="en-US" altLang="en-US" sz="2000">
              <a:latin typeface="Cambria" panose="02040503050406030204" pitchFamily="18" charset="0"/>
              <a:cs typeface="Cambria" panose="02040503050406030204" pitchFamily="18" charset="0"/>
            </a:endParaRPr>
          </a:p>
          <a:p>
            <a:pPr marL="76200" indent="0">
              <a:lnSpc>
                <a:spcPct val="80000"/>
              </a:lnSpc>
              <a:buNone/>
            </a:pPr>
            <a:r>
              <a:rPr lang="en-US" altLang="en-US" sz="2000">
                <a:latin typeface="Cambria" panose="02040503050406030204" pitchFamily="18" charset="0"/>
                <a:cs typeface="Cambria" panose="02040503050406030204" pitchFamily="18" charset="0"/>
              </a:rPr>
              <a:t>(Backend AI engine – future enhancement)</a:t>
            </a:r>
            <a:endParaRPr lang="en-US" altLang="en-US" sz="2000">
              <a:latin typeface="Cambria" panose="02040503050406030204" pitchFamily="18" charset="0"/>
              <a:cs typeface="Cambria" panose="02040503050406030204" pitchFamily="18" charset="0"/>
            </a:endParaRPr>
          </a:p>
          <a:p>
            <a:pPr marL="76200" indent="0">
              <a:lnSpc>
                <a:spcPct val="80000"/>
              </a:lnSpc>
              <a:buNone/>
            </a:pPr>
            <a:endParaRPr lang="en-US" altLang="en-US" sz="2000">
              <a:latin typeface="Cambria" panose="02040503050406030204" pitchFamily="18" charset="0"/>
              <a:cs typeface="Cambria" panose="02040503050406030204" pitchFamily="18" charset="0"/>
            </a:endParaRPr>
          </a:p>
          <a:p>
            <a:pPr marL="76200" indent="0">
              <a:lnSpc>
                <a:spcPct val="70000"/>
              </a:lnSpc>
              <a:buNone/>
            </a:pPr>
            <a:r>
              <a:rPr lang="en-US" altLang="en-US" sz="2000" b="1">
                <a:latin typeface="Cambria" panose="02040503050406030204" pitchFamily="18" charset="0"/>
                <a:cs typeface="Cambria" panose="02040503050406030204" pitchFamily="18" charset="0"/>
              </a:rPr>
              <a:t>5. Timetable Generation &amp; Visualization Module</a:t>
            </a:r>
            <a:endParaRPr lang="en-US" altLang="en-US" sz="2000" b="1">
              <a:latin typeface="Cambria" panose="02040503050406030204" pitchFamily="18" charset="0"/>
              <a:cs typeface="Cambria" panose="02040503050406030204" pitchFamily="18" charset="0"/>
            </a:endParaRPr>
          </a:p>
          <a:p>
            <a:pPr marL="76200" indent="0">
              <a:lnSpc>
                <a:spcPct val="70000"/>
              </a:lnSpc>
              <a:buNone/>
            </a:pPr>
            <a:endParaRPr lang="en-US" altLang="en-US" sz="2000" b="1">
              <a:latin typeface="Cambria" panose="02040503050406030204" pitchFamily="18" charset="0"/>
              <a:cs typeface="Cambria" panose="02040503050406030204" pitchFamily="18" charset="0"/>
            </a:endParaRPr>
          </a:p>
          <a:p>
            <a:pPr>
              <a:lnSpc>
                <a:spcPct val="60000"/>
              </a:lnSpc>
            </a:pPr>
            <a:r>
              <a:rPr lang="en-US" altLang="en-US" sz="2000">
                <a:latin typeface="Cambria" panose="02040503050406030204" pitchFamily="18" charset="0"/>
                <a:cs typeface="Cambria" panose="02040503050406030204" pitchFamily="18" charset="0"/>
              </a:rPr>
              <a:t>Generates program-wise timetables and displays them in a structured format.</a:t>
            </a:r>
            <a:endParaRPr lang="en-US" altLang="en-US" sz="2000">
              <a:latin typeface="Cambria" panose="02040503050406030204" pitchFamily="18" charset="0"/>
              <a:cs typeface="Cambria" panose="02040503050406030204" pitchFamily="18" charset="0"/>
            </a:endParaRPr>
          </a:p>
          <a:p>
            <a:pPr>
              <a:lnSpc>
                <a:spcPct val="60000"/>
              </a:lnSpc>
            </a:pPr>
            <a:endParaRPr lang="en-US" altLang="en-US" sz="2000">
              <a:latin typeface="Cambria" panose="02040503050406030204" pitchFamily="18" charset="0"/>
              <a:cs typeface="Cambria" panose="02040503050406030204" pitchFamily="18" charset="0"/>
            </a:endParaRPr>
          </a:p>
          <a:p>
            <a:pPr>
              <a:lnSpc>
                <a:spcPct val="60000"/>
              </a:lnSpc>
            </a:pPr>
            <a:r>
              <a:rPr lang="en-US" altLang="en-US" sz="2000">
                <a:latin typeface="Cambria" panose="02040503050406030204" pitchFamily="18" charset="0"/>
                <a:cs typeface="Cambria" panose="02040503050406030204" pitchFamily="18" charset="0"/>
              </a:rPr>
              <a:t>Supports filtering by program and academic parameters.</a:t>
            </a:r>
            <a:endParaRPr lang="en-US" altLang="en-US" sz="2000">
              <a:latin typeface="Cambria" panose="02040503050406030204" pitchFamily="18" charset="0"/>
              <a:cs typeface="Cambria" panose="02040503050406030204" pitchFamily="18" charset="0"/>
            </a:endParaRPr>
          </a:p>
          <a:p>
            <a:pPr>
              <a:lnSpc>
                <a:spcPct val="60000"/>
              </a:lnSpc>
            </a:pPr>
            <a:endParaRPr lang="en-US" altLang="en-US" sz="2000">
              <a:latin typeface="Cambria" panose="02040503050406030204" pitchFamily="18" charset="0"/>
              <a:cs typeface="Cambria" panose="02040503050406030204" pitchFamily="18" charset="0"/>
            </a:endParaRPr>
          </a:p>
          <a:p>
            <a:pPr>
              <a:lnSpc>
                <a:spcPct val="60000"/>
              </a:lnSpc>
            </a:pPr>
            <a:r>
              <a:rPr lang="en-US" altLang="en-US" sz="2000">
                <a:latin typeface="Cambria" panose="02040503050406030204" pitchFamily="18" charset="0"/>
                <a:cs typeface="Cambria" panose="02040503050406030204" pitchFamily="18" charset="0"/>
              </a:rPr>
              <a:t>Component: Frontend (JS + UI Rendering)</a:t>
            </a:r>
            <a:endParaRPr lang="en-US" altLang="en-US" sz="2000">
              <a:latin typeface="Cambria" panose="02040503050406030204" pitchFamily="18" charset="0"/>
              <a:cs typeface="Cambria" panose="020405030504060302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Implementation Progress</a:t>
            </a:r>
            <a:endParaRPr lang="en-IN" dirty="0">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type="body" idx="1"/>
          </p:nvPr>
        </p:nvSpPr>
        <p:spPr bwMode="auto">
          <a:xfrm>
            <a:off x="533400" y="1308735"/>
            <a:ext cx="10946765" cy="4472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noAutofit/>
          </a:bodyPr>
          <a:lstStyle/>
          <a:p>
            <a:pPr marL="0" indent="0" algn="l" eaLnBrk="0" fontAlgn="base" hangingPunct="0">
              <a:lnSpc>
                <a:spcPct val="90000"/>
              </a:lnSpc>
              <a:spcBef>
                <a:spcPct val="0"/>
              </a:spcBef>
              <a:spcAft>
                <a:spcPct val="0"/>
              </a:spcAft>
              <a:buClrTx/>
              <a:buSzTx/>
              <a:buNone/>
            </a:pPr>
            <a:r>
              <a:rPr kumimoji="0" lang="en-IN"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1.</a:t>
            </a:r>
            <a:r>
              <a:rPr kumimoji="0" lang="en-US"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System Setup &amp; UI Development</a:t>
            </a:r>
            <a:endParaRPr kumimoji="0" lang="en-US"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indent="0" algn="l" eaLnBrk="0" fontAlgn="base" hangingPunct="0">
              <a:lnSpc>
                <a:spcPct val="90000"/>
              </a:lnSpc>
              <a:spcBef>
                <a:spcPct val="0"/>
              </a:spcBef>
              <a:spcAft>
                <a:spcPct val="0"/>
              </a:spcAft>
              <a:buClrTx/>
              <a:buSzTx/>
              <a:buNone/>
            </a:pPr>
            <a:r>
              <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Developed a web-based user interface using HTML, CSS, and JavaScript.</a:t>
            </a:r>
            <a:endPar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indent="0" algn="l" eaLnBrk="0" fontAlgn="base" hangingPunct="0">
              <a:lnSpc>
                <a:spcPct val="90000"/>
              </a:lnSpc>
              <a:spcBef>
                <a:spcPct val="0"/>
              </a:spcBef>
              <a:spcAft>
                <a:spcPct val="0"/>
              </a:spcAft>
              <a:buClrTx/>
              <a:buSzTx/>
              <a:buNone/>
            </a:pPr>
            <a:endPar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indent="0" algn="l" eaLnBrk="0" fontAlgn="base" hangingPunct="0">
              <a:lnSpc>
                <a:spcPct val="90000"/>
              </a:lnSpc>
              <a:spcBef>
                <a:spcPct val="0"/>
              </a:spcBef>
              <a:spcAft>
                <a:spcPct val="0"/>
              </a:spcAft>
              <a:buClrTx/>
              <a:buSzTx/>
              <a:buNone/>
            </a:pPr>
            <a:r>
              <a:rPr kumimoji="0" lang="en-IN"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2.</a:t>
            </a:r>
            <a:r>
              <a:rPr kumimoji="0" lang="en-US"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Academic Data Management</a:t>
            </a:r>
            <a:endParaRPr kumimoji="0" lang="en-US"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indent="0" algn="l" eaLnBrk="0" fontAlgn="base" hangingPunct="0">
              <a:lnSpc>
                <a:spcPct val="90000"/>
              </a:lnSpc>
              <a:spcBef>
                <a:spcPct val="0"/>
              </a:spcBef>
              <a:spcAft>
                <a:spcPct val="0"/>
              </a:spcAft>
              <a:buClrTx/>
              <a:buSzTx/>
              <a:buNone/>
            </a:pPr>
            <a:r>
              <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Implemented client-side data structures to manage courses, faculty, students, and rooms.</a:t>
            </a:r>
            <a:endPar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indent="0" algn="l" eaLnBrk="0" fontAlgn="base" hangingPunct="0">
              <a:lnSpc>
                <a:spcPct val="90000"/>
              </a:lnSpc>
              <a:spcBef>
                <a:spcPct val="0"/>
              </a:spcBef>
              <a:spcAft>
                <a:spcPct val="0"/>
              </a:spcAft>
              <a:buClrTx/>
              <a:buSzTx/>
              <a:buNone/>
            </a:pPr>
            <a:endPar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indent="0" algn="l" eaLnBrk="0" fontAlgn="base" hangingPunct="0">
              <a:lnSpc>
                <a:spcPct val="90000"/>
              </a:lnSpc>
              <a:spcBef>
                <a:spcPct val="0"/>
              </a:spcBef>
              <a:spcAft>
                <a:spcPct val="0"/>
              </a:spcAft>
              <a:buClrTx/>
              <a:buSzTx/>
              <a:buNone/>
            </a:pPr>
            <a:r>
              <a:rPr kumimoji="0" lang="en-IN"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3.</a:t>
            </a:r>
            <a:r>
              <a:rPr kumimoji="0" lang="en-US"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Constraint Definition</a:t>
            </a:r>
            <a:endParaRPr kumimoji="0" lang="en-US"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indent="0" algn="l" eaLnBrk="0" fontAlgn="base" hangingPunct="0">
              <a:lnSpc>
                <a:spcPct val="90000"/>
              </a:lnSpc>
              <a:spcBef>
                <a:spcPct val="0"/>
              </a:spcBef>
              <a:spcAft>
                <a:spcPct val="0"/>
              </a:spcAft>
              <a:buClrTx/>
              <a:buSzTx/>
              <a:buNone/>
            </a:pPr>
            <a:r>
              <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Defined scheduling constraints such as program-wise segregation and conflict avoidance.</a:t>
            </a:r>
            <a:endPar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indent="0" algn="l" eaLnBrk="0" fontAlgn="base" hangingPunct="0">
              <a:lnSpc>
                <a:spcPct val="90000"/>
              </a:lnSpc>
              <a:spcBef>
                <a:spcPct val="0"/>
              </a:spcBef>
              <a:spcAft>
                <a:spcPct val="0"/>
              </a:spcAft>
              <a:buClrTx/>
              <a:buSzTx/>
              <a:buNone/>
            </a:pPr>
            <a:endPar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indent="0" algn="l" eaLnBrk="0" fontAlgn="base" hangingPunct="0">
              <a:lnSpc>
                <a:spcPct val="90000"/>
              </a:lnSpc>
              <a:spcBef>
                <a:spcPct val="0"/>
              </a:spcBef>
              <a:spcAft>
                <a:spcPct val="0"/>
              </a:spcAft>
              <a:buClrTx/>
              <a:buSzTx/>
              <a:buNone/>
            </a:pPr>
            <a:r>
              <a:rPr kumimoji="0" lang="en-IN"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4.</a:t>
            </a:r>
            <a:r>
              <a:rPr kumimoji="0" lang="en-US"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AI-Assisted Timetable Generation</a:t>
            </a:r>
            <a:endParaRPr kumimoji="0" lang="en-US"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indent="0" algn="l" eaLnBrk="0" fontAlgn="base" hangingPunct="0">
              <a:lnSpc>
                <a:spcPct val="90000"/>
              </a:lnSpc>
              <a:spcBef>
                <a:spcPct val="0"/>
              </a:spcBef>
              <a:spcAft>
                <a:spcPct val="0"/>
              </a:spcAft>
              <a:buClrTx/>
              <a:buSzTx/>
              <a:buNone/>
            </a:pPr>
            <a:r>
              <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Applied heuristic-based intelligent logic to generate optimized, conflict-free timetables.</a:t>
            </a:r>
            <a:endPar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indent="0" algn="l" eaLnBrk="0" fontAlgn="base" hangingPunct="0">
              <a:lnSpc>
                <a:spcPct val="90000"/>
              </a:lnSpc>
              <a:spcBef>
                <a:spcPct val="0"/>
              </a:spcBef>
              <a:spcAft>
                <a:spcPct val="0"/>
              </a:spcAft>
              <a:buClrTx/>
              <a:buSzTx/>
              <a:buNone/>
            </a:pPr>
            <a:endPar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indent="0" algn="l" eaLnBrk="0" fontAlgn="base" hangingPunct="0">
              <a:lnSpc>
                <a:spcPct val="90000"/>
              </a:lnSpc>
              <a:spcBef>
                <a:spcPct val="0"/>
              </a:spcBef>
              <a:spcAft>
                <a:spcPct val="0"/>
              </a:spcAft>
              <a:buClrTx/>
              <a:buSzTx/>
              <a:buNone/>
            </a:pPr>
            <a:r>
              <a:rPr kumimoji="0" lang="en-IN"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5.</a:t>
            </a:r>
            <a:r>
              <a:rPr kumimoji="0" lang="en-US"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Timetable Visualization &amp; Filtering</a:t>
            </a:r>
            <a:endParaRPr kumimoji="0" lang="en-US" altLang="en-US" sz="2200"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indent="0" algn="l" eaLnBrk="0" fontAlgn="base" hangingPunct="0">
              <a:lnSpc>
                <a:spcPct val="90000"/>
              </a:lnSpc>
              <a:spcBef>
                <a:spcPct val="0"/>
              </a:spcBef>
              <a:spcAft>
                <a:spcPct val="0"/>
              </a:spcAft>
              <a:buClrTx/>
              <a:buSzTx/>
              <a:buNone/>
            </a:pPr>
            <a:r>
              <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Displayed generated timetables with program-wise filtering for user interaction.</a:t>
            </a:r>
            <a:endParaRPr kumimoji="0" lang="en-US" altLang="en-US" sz="22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Hardware &amp; Software Requirements</a:t>
            </a:r>
            <a:endParaRPr lang="en-IN" dirty="0"/>
          </a:p>
        </p:txBody>
      </p:sp>
      <p:sp>
        <p:nvSpPr>
          <p:cNvPr id="3" name="Text Placeholder 2"/>
          <p:cNvSpPr>
            <a:spLocks noGrp="1"/>
          </p:cNvSpPr>
          <p:nvPr>
            <p:ph type="body" idx="1"/>
          </p:nvPr>
        </p:nvSpPr>
        <p:spPr>
          <a:xfrm>
            <a:off x="697230" y="1046480"/>
            <a:ext cx="10888980" cy="5078730"/>
          </a:xfrm>
        </p:spPr>
        <p:txBody>
          <a:bodyPr>
            <a:noAutofit/>
          </a:bodyPr>
          <a:lstStyle/>
          <a:p>
            <a:pPr marL="76200" indent="0">
              <a:buNone/>
            </a:pPr>
            <a:r>
              <a:rPr lang="en-IN" sz="2000" b="1" dirty="0">
                <a:latin typeface="Times New Roman" panose="02020603050405020304" pitchFamily="18" charset="0"/>
                <a:cs typeface="Times New Roman" panose="02020603050405020304" pitchFamily="18" charset="0"/>
              </a:rPr>
              <a:t>Hardware Requirements:</a:t>
            </a:r>
            <a:endParaRPr lang="en-US" altLang="en-US" sz="2000" b="1" dirty="0">
              <a:latin typeface="Times New Roman" panose="02020603050405020304" pitchFamily="18" charset="0"/>
              <a:cs typeface="Times New Roman" panose="02020603050405020304" pitchFamily="18" charset="0"/>
            </a:endParaRPr>
          </a:p>
          <a:p>
            <a:r>
              <a:rPr lang="en-US" altLang="en-US" sz="2000" dirty="0">
                <a:latin typeface="Times New Roman" panose="02020603050405020304" pitchFamily="18" charset="0"/>
                <a:cs typeface="Times New Roman" panose="02020603050405020304" pitchFamily="18" charset="0"/>
              </a:rPr>
              <a:t>System: Desktop / Laptop</a:t>
            </a:r>
            <a:endParaRPr lang="en-US" altLang="en-US" sz="2000" dirty="0">
              <a:latin typeface="Times New Roman" panose="02020603050405020304" pitchFamily="18" charset="0"/>
              <a:cs typeface="Times New Roman" panose="02020603050405020304" pitchFamily="18" charset="0"/>
            </a:endParaRPr>
          </a:p>
          <a:p>
            <a:r>
              <a:rPr lang="en-US" altLang="en-US" sz="2000" dirty="0">
                <a:latin typeface="Times New Roman" panose="02020603050405020304" pitchFamily="18" charset="0"/>
                <a:cs typeface="Times New Roman" panose="02020603050405020304" pitchFamily="18" charset="0"/>
              </a:rPr>
              <a:t>Processor: Intel i3 or higher</a:t>
            </a:r>
            <a:endParaRPr lang="en-US" altLang="en-US" sz="2000" dirty="0">
              <a:latin typeface="Times New Roman" panose="02020603050405020304" pitchFamily="18" charset="0"/>
              <a:cs typeface="Times New Roman" panose="02020603050405020304" pitchFamily="18" charset="0"/>
            </a:endParaRPr>
          </a:p>
          <a:p>
            <a:r>
              <a:rPr lang="en-US" altLang="en-US" sz="2000" dirty="0">
                <a:latin typeface="Times New Roman" panose="02020603050405020304" pitchFamily="18" charset="0"/>
                <a:cs typeface="Times New Roman" panose="02020603050405020304" pitchFamily="18" charset="0"/>
              </a:rPr>
              <a:t>RAM: Minimum 4 GB</a:t>
            </a:r>
            <a:endParaRPr lang="en-US" altLang="en-US" sz="2000" dirty="0">
              <a:latin typeface="Times New Roman" panose="02020603050405020304" pitchFamily="18" charset="0"/>
              <a:cs typeface="Times New Roman" panose="02020603050405020304" pitchFamily="18" charset="0"/>
            </a:endParaRPr>
          </a:p>
          <a:p>
            <a:r>
              <a:rPr lang="en-US" altLang="en-US" sz="2000" dirty="0">
                <a:latin typeface="Times New Roman" panose="02020603050405020304" pitchFamily="18" charset="0"/>
                <a:cs typeface="Times New Roman" panose="02020603050405020304" pitchFamily="18" charset="0"/>
              </a:rPr>
              <a:t>Storage: 5 GB free disk space</a:t>
            </a:r>
            <a:endParaRPr lang="en-US" altLang="en-US" sz="2000" dirty="0">
              <a:latin typeface="Times New Roman" panose="02020603050405020304" pitchFamily="18" charset="0"/>
              <a:cs typeface="Times New Roman" panose="02020603050405020304" pitchFamily="18" charset="0"/>
            </a:endParaRPr>
          </a:p>
          <a:p>
            <a:pPr>
              <a:lnSpc>
                <a:spcPct val="80000"/>
              </a:lnSpc>
            </a:pPr>
            <a:r>
              <a:rPr lang="en-US" altLang="en-US" sz="2000" dirty="0">
                <a:latin typeface="Times New Roman" panose="02020603050405020304" pitchFamily="18" charset="0"/>
                <a:cs typeface="Times New Roman" panose="02020603050405020304" pitchFamily="18" charset="0"/>
              </a:rPr>
              <a:t>Display: Standard monitor (for UI visualization)</a:t>
            </a:r>
            <a:endParaRPr lang="en-US" altLang="en-US" sz="2000" dirty="0">
              <a:latin typeface="Times New Roman" panose="02020603050405020304" pitchFamily="18" charset="0"/>
              <a:cs typeface="Times New Roman" panose="02020603050405020304" pitchFamily="18" charset="0"/>
            </a:endParaRPr>
          </a:p>
          <a:p>
            <a:pPr marL="76200" indent="0">
              <a:lnSpc>
                <a:spcPct val="80000"/>
              </a:lnSpc>
              <a:buNone/>
            </a:pPr>
            <a:endParaRPr lang="en-US" altLang="en-US" sz="2000" b="1" dirty="0">
              <a:latin typeface="Times New Roman" panose="02020603050405020304" pitchFamily="18" charset="0"/>
              <a:cs typeface="Times New Roman" panose="02020603050405020304" pitchFamily="18" charset="0"/>
            </a:endParaRPr>
          </a:p>
          <a:p>
            <a:pPr marL="76200" indent="0">
              <a:lnSpc>
                <a:spcPct val="80000"/>
              </a:lnSpc>
              <a:buNone/>
            </a:pPr>
            <a:r>
              <a:rPr lang="en-US" altLang="en-US" sz="2000" b="1" dirty="0">
                <a:latin typeface="Times New Roman" panose="02020603050405020304" pitchFamily="18" charset="0"/>
                <a:cs typeface="Times New Roman" panose="02020603050405020304" pitchFamily="18" charset="0"/>
              </a:rPr>
              <a:t>Software Requirements</a:t>
            </a:r>
            <a:endParaRPr lang="en-US" altLang="en-US" sz="2000" b="1" dirty="0">
              <a:latin typeface="Times New Roman" panose="02020603050405020304" pitchFamily="18" charset="0"/>
              <a:cs typeface="Times New Roman" panose="02020603050405020304" pitchFamily="18" charset="0"/>
            </a:endParaRPr>
          </a:p>
          <a:p>
            <a:r>
              <a:rPr lang="en-US" altLang="en-US" sz="2000" dirty="0">
                <a:latin typeface="Times New Roman" panose="02020603050405020304" pitchFamily="18" charset="0"/>
                <a:cs typeface="Times New Roman" panose="02020603050405020304" pitchFamily="18" charset="0"/>
              </a:rPr>
              <a:t>Operating System: Windows / Linux / macOS</a:t>
            </a:r>
            <a:endParaRPr lang="en-US" altLang="en-US" sz="2000" dirty="0">
              <a:latin typeface="Times New Roman" panose="02020603050405020304" pitchFamily="18" charset="0"/>
              <a:cs typeface="Times New Roman" panose="02020603050405020304" pitchFamily="18" charset="0"/>
            </a:endParaRPr>
          </a:p>
          <a:p>
            <a:r>
              <a:rPr lang="en-US" altLang="en-US" sz="2000" dirty="0">
                <a:latin typeface="Times New Roman" panose="02020603050405020304" pitchFamily="18" charset="0"/>
                <a:cs typeface="Times New Roman" panose="02020603050405020304" pitchFamily="18" charset="0"/>
              </a:rPr>
              <a:t>Programming Languages:</a:t>
            </a:r>
            <a:r>
              <a:rPr lang="en-IN" altLang="en-US" sz="2000" dirty="0">
                <a:latin typeface="Times New Roman" panose="02020603050405020304" pitchFamily="18" charset="0"/>
                <a:cs typeface="Times New Roman" panose="02020603050405020304" pitchFamily="18" charset="0"/>
              </a:rPr>
              <a:t> </a:t>
            </a:r>
            <a:endParaRPr lang="en-IN" altLang="en-US" sz="2000" dirty="0">
              <a:latin typeface="Times New Roman" panose="02020603050405020304" pitchFamily="18" charset="0"/>
              <a:cs typeface="Times New Roman" panose="02020603050405020304" pitchFamily="18" charset="0"/>
            </a:endParaRPr>
          </a:p>
          <a:p>
            <a:pPr marL="76200" indent="0">
              <a:buNone/>
            </a:pPr>
            <a:r>
              <a:rPr lang="en-IN" altLang="en-US" sz="2000" dirty="0">
                <a:latin typeface="Times New Roman" panose="02020603050405020304" pitchFamily="18" charset="0"/>
                <a:cs typeface="Times New Roman" panose="02020603050405020304" pitchFamily="18" charset="0"/>
              </a:rPr>
              <a:t>          1.</a:t>
            </a:r>
            <a:r>
              <a:rPr lang="en-US" altLang="en-US" sz="2000" dirty="0">
                <a:latin typeface="Times New Roman" panose="02020603050405020304" pitchFamily="18" charset="0"/>
                <a:cs typeface="Times New Roman" panose="02020603050405020304" pitchFamily="18" charset="0"/>
              </a:rPr>
              <a:t>HTML5, CSS3 (Frontend UI)</a:t>
            </a:r>
            <a:endParaRPr lang="en-US" altLang="en-US" sz="2000" dirty="0">
              <a:latin typeface="Times New Roman" panose="02020603050405020304" pitchFamily="18" charset="0"/>
              <a:cs typeface="Times New Roman" panose="02020603050405020304" pitchFamily="18" charset="0"/>
            </a:endParaRPr>
          </a:p>
          <a:p>
            <a:pPr marL="76200" indent="0">
              <a:buNone/>
            </a:pPr>
            <a:r>
              <a:rPr lang="en-US" altLang="en-US" sz="2000" dirty="0">
                <a:latin typeface="Times New Roman" panose="02020603050405020304" pitchFamily="18" charset="0"/>
                <a:cs typeface="Times New Roman" panose="02020603050405020304" pitchFamily="18" charset="0"/>
              </a:rPr>
              <a:t> </a:t>
            </a:r>
            <a:r>
              <a:rPr lang="en-IN" altLang="en-US" sz="2000" dirty="0">
                <a:latin typeface="Times New Roman" panose="02020603050405020304" pitchFamily="18" charset="0"/>
                <a:cs typeface="Times New Roman" panose="02020603050405020304" pitchFamily="18" charset="0"/>
              </a:rPr>
              <a:t>         2.</a:t>
            </a:r>
            <a:r>
              <a:rPr lang="en-US" altLang="en-US" sz="2000" dirty="0">
                <a:latin typeface="Times New Roman" panose="02020603050405020304" pitchFamily="18" charset="0"/>
                <a:cs typeface="Times New Roman" panose="02020603050405020304" pitchFamily="18" charset="0"/>
              </a:rPr>
              <a:t>JavaScript (Logic &amp; Scheduling)</a:t>
            </a:r>
            <a:endParaRPr lang="en-US" altLang="en-US" sz="2000" dirty="0">
              <a:latin typeface="Times New Roman" panose="02020603050405020304" pitchFamily="18" charset="0"/>
              <a:cs typeface="Times New Roman" panose="02020603050405020304" pitchFamily="18" charset="0"/>
            </a:endParaRPr>
          </a:p>
          <a:p>
            <a:r>
              <a:rPr lang="en-US" altLang="en-US" sz="2000" dirty="0">
                <a:latin typeface="Times New Roman" panose="02020603050405020304" pitchFamily="18" charset="0"/>
                <a:cs typeface="Times New Roman" panose="02020603050405020304" pitchFamily="18" charset="0"/>
              </a:rPr>
              <a:t>Backend Technology: Python (FastAPI)</a:t>
            </a:r>
            <a:endParaRPr lang="en-US" altLang="en-US" sz="2000" dirty="0">
              <a:latin typeface="Times New Roman" panose="02020603050405020304" pitchFamily="18" charset="0"/>
              <a:cs typeface="Times New Roman" panose="02020603050405020304" pitchFamily="18" charset="0"/>
            </a:endParaRPr>
          </a:p>
          <a:p>
            <a:pPr marL="76200" indent="0">
              <a:buNone/>
            </a:pPr>
            <a:endParaRPr lang="en-US" altLang="en-US" sz="20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3048000" y="3275112"/>
            <a:ext cx="6096000" cy="307777"/>
          </a:xfrm>
          <a:prstGeom prst="rect">
            <a:avLst/>
          </a:prstGeom>
          <a:noFill/>
        </p:spPr>
        <p:txBody>
          <a:bodyPr wrap="square">
            <a:spAutoFit/>
          </a:bodyPr>
          <a:lstStyle/>
          <a:p>
            <a:pPr>
              <a:buNone/>
            </a:pP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Placeholder 2"/>
          <p:cNvSpPr>
            <a:spLocks noGrp="1"/>
          </p:cNvSpPr>
          <p:nvPr>
            <p:ph type="body" idx="1"/>
          </p:nvPr>
        </p:nvSpPr>
        <p:spPr/>
        <p:txBody>
          <a:bodyPr/>
          <a:p>
            <a:r>
              <a:rPr lang="en-US" altLang="en-US" sz="2000" dirty="0">
                <a:latin typeface="Times New Roman" panose="02020603050405020304" pitchFamily="18" charset="0"/>
                <a:cs typeface="Times New Roman" panose="02020603050405020304" pitchFamily="18" charset="0"/>
                <a:sym typeface="+mn-ea"/>
              </a:rPr>
              <a:t>Scheduling Logic: AI-assisted / rule-based constraint scheduling</a:t>
            </a:r>
            <a:endParaRPr lang="en-US" altLang="en-US" sz="2000" dirty="0">
              <a:latin typeface="Times New Roman" panose="02020603050405020304" pitchFamily="18" charset="0"/>
              <a:cs typeface="Times New Roman" panose="02020603050405020304" pitchFamily="18" charset="0"/>
            </a:endParaRPr>
          </a:p>
          <a:p>
            <a:r>
              <a:rPr lang="en-US" altLang="en-US" sz="2000" dirty="0">
                <a:latin typeface="Times New Roman" panose="02020603050405020304" pitchFamily="18" charset="0"/>
                <a:cs typeface="Times New Roman" panose="02020603050405020304" pitchFamily="18" charset="0"/>
                <a:sym typeface="+mn-ea"/>
              </a:rPr>
              <a:t>Code Editor: Visual Studio Code</a:t>
            </a:r>
            <a:endParaRPr lang="en-US" altLang="en-US" sz="2000" dirty="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Development Tools: Visual Studio Code, Git</a:t>
            </a:r>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Web Browsers: Google Chrome / Mozilla Firefox</a:t>
            </a:r>
            <a:endParaRPr lang="en-US" alt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mbria" panose="02040503050406030204" pitchFamily="18" charset="0"/>
                <a:ea typeface="Cambria" panose="02040503050406030204" pitchFamily="18" charset="0"/>
              </a:rPr>
              <a:t>SDG Mapping</a:t>
            </a:r>
            <a:endParaRPr lang="en-IN" dirty="0"/>
          </a:p>
        </p:txBody>
      </p:sp>
      <p:sp>
        <p:nvSpPr>
          <p:cNvPr id="3" name="Text Placeholder 2"/>
          <p:cNvSpPr>
            <a:spLocks noGrp="1"/>
          </p:cNvSpPr>
          <p:nvPr>
            <p:ph type="body" idx="1"/>
          </p:nvPr>
        </p:nvSpPr>
        <p:spPr/>
        <p:txBody>
          <a:bodyPr/>
          <a:lstStyle/>
          <a:p>
            <a:pPr marL="0" indent="0" eaLnBrk="0" fontAlgn="base" hangingPunct="0">
              <a:spcBef>
                <a:spcPct val="0"/>
              </a:spcBef>
              <a:spcAft>
                <a:spcPct val="0"/>
              </a:spcAft>
              <a:buClrTx/>
              <a:buSzTx/>
              <a:buNone/>
            </a:pPr>
            <a:r>
              <a:rPr lang="en-US" b="1" dirty="0">
                <a:latin typeface="Cambria" panose="02040503050406030204" pitchFamily="18" charset="0"/>
                <a:ea typeface="Cambria" panose="02040503050406030204" pitchFamily="18" charset="0"/>
                <a:sym typeface="+mn-ea"/>
              </a:rPr>
              <a:t>SDG </a:t>
            </a:r>
            <a:r>
              <a:rPr lang="en-IN" altLang="en-US" b="1" dirty="0">
                <a:latin typeface="Cambria" panose="02040503050406030204" pitchFamily="18" charset="0"/>
                <a:ea typeface="Cambria" panose="02040503050406030204" pitchFamily="18" charset="0"/>
                <a:sym typeface="+mn-ea"/>
              </a:rPr>
              <a:t>9</a:t>
            </a:r>
            <a:r>
              <a:rPr lang="en-US" b="1" dirty="0">
                <a:latin typeface="Cambria" panose="02040503050406030204" pitchFamily="18" charset="0"/>
                <a:ea typeface="Cambria" panose="02040503050406030204" pitchFamily="18" charset="0"/>
                <a:sym typeface="+mn-ea"/>
              </a:rPr>
              <a:t> – </a:t>
            </a:r>
            <a:r>
              <a:rPr lang="en-US" altLang="en-US" b="1" dirty="0">
                <a:latin typeface="Cambria" panose="02040503050406030204" pitchFamily="18" charset="0"/>
                <a:ea typeface="Cambria" panose="02040503050406030204" pitchFamily="18" charset="0"/>
                <a:sym typeface="+mn-ea"/>
              </a:rPr>
              <a:t>Industry, Innovation and Infrastructure</a:t>
            </a:r>
            <a:endParaRPr lang="en-US" altLang="en-US" b="1" dirty="0">
              <a:latin typeface="Cambria" panose="02040503050406030204" pitchFamily="18" charset="0"/>
              <a:ea typeface="Cambria" panose="02040503050406030204" pitchFamily="18" charset="0"/>
            </a:endParaRPr>
          </a:p>
          <a:p>
            <a:pPr marL="342900" indent="-342900" eaLnBrk="0" fontAlgn="base" hangingPunct="0">
              <a:spcBef>
                <a:spcPct val="0"/>
              </a:spcBef>
              <a:spcAft>
                <a:spcPct val="0"/>
              </a:spcAft>
              <a:buClrTx/>
              <a:buSzTx/>
            </a:pPr>
            <a:r>
              <a:rPr lang="en-US" altLang="en-US" dirty="0">
                <a:latin typeface="Cambria" panose="02040503050406030204" pitchFamily="18" charset="0"/>
                <a:ea typeface="Cambria" panose="02040503050406030204" pitchFamily="18" charset="0"/>
                <a:sym typeface="+mn-ea"/>
              </a:rPr>
              <a:t>Encourages the use of AI-assisted and digital solutions in academic administration.</a:t>
            </a:r>
            <a:endParaRPr lang="en-US" altLang="en-US" dirty="0">
              <a:latin typeface="Cambria" panose="02040503050406030204" pitchFamily="18" charset="0"/>
              <a:ea typeface="Cambria" panose="02040503050406030204" pitchFamily="18" charset="0"/>
            </a:endParaRPr>
          </a:p>
          <a:p>
            <a:pPr marL="342900" indent="-342900" eaLnBrk="0" fontAlgn="base" hangingPunct="0">
              <a:spcBef>
                <a:spcPct val="0"/>
              </a:spcBef>
              <a:spcAft>
                <a:spcPct val="0"/>
              </a:spcAft>
              <a:buClrTx/>
              <a:buSzTx/>
            </a:pPr>
            <a:r>
              <a:rPr lang="en-US" altLang="en-US" dirty="0">
                <a:latin typeface="Cambria" panose="02040503050406030204" pitchFamily="18" charset="0"/>
                <a:ea typeface="Cambria" panose="02040503050406030204" pitchFamily="18" charset="0"/>
                <a:sym typeface="+mn-ea"/>
              </a:rPr>
              <a:t>Promotes innovation in institutional planning through software-based systems.</a:t>
            </a:r>
            <a:endParaRPr lang="en-US" altLang="en-US" dirty="0">
              <a:latin typeface="Cambria" panose="02040503050406030204" pitchFamily="18" charset="0"/>
              <a:ea typeface="Cambria" panose="02040503050406030204" pitchFamily="18" charset="0"/>
            </a:endParaRPr>
          </a:p>
          <a:p>
            <a:pPr marL="76200" indent="0">
              <a:buNone/>
            </a:pPr>
            <a:endParaRPr lang="en-US" dirty="0">
              <a:latin typeface="Cambria" panose="02040503050406030204" pitchFamily="18" charset="0"/>
              <a:ea typeface="Cambria" panose="02040503050406030204" pitchFamily="18" charset="0"/>
            </a:endParaRPr>
          </a:p>
          <a:p>
            <a:pPr marL="76200" indent="0">
              <a:buNone/>
            </a:pPr>
            <a:endParaRPr lang="en-I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chemeClr val="accent1">
                    <a:lumMod val="50000"/>
                  </a:schemeClr>
                </a:solidFill>
                <a:latin typeface="Cambria" panose="02040503050406030204" pitchFamily="18" charset="0"/>
                <a:ea typeface="Cambria" panose="02040503050406030204" pitchFamily="18" charset="0"/>
              </a:rPr>
              <a:t>Innovation / Novel Contribution:</a:t>
            </a:r>
            <a:endParaRPr lang="en-IN" dirty="0"/>
          </a:p>
        </p:txBody>
      </p:sp>
      <p:sp>
        <p:nvSpPr>
          <p:cNvPr id="3" name="Text Placeholder 2"/>
          <p:cNvSpPr>
            <a:spLocks noGrp="1"/>
          </p:cNvSpPr>
          <p:nvPr>
            <p:ph type="body" idx="1"/>
          </p:nvPr>
        </p:nvSpPr>
        <p:spPr/>
        <p:txBody>
          <a:bodyPr>
            <a:normAutofit lnSpcReduction="20000"/>
          </a:bodyPr>
          <a:lstStyle/>
          <a:p>
            <a:r>
              <a:rPr lang="en-US" altLang="en-US" dirty="0">
                <a:latin typeface="Cambria" panose="02040503050406030204" pitchFamily="18" charset="0"/>
                <a:ea typeface="Cambria" panose="02040503050406030204" pitchFamily="18" charset="0"/>
              </a:rPr>
              <a:t>NEP 2020–Compliant Design: Supports multidisciplinary and program-wise academic structures.</a:t>
            </a:r>
            <a:endParaRPr lang="en-US" altLang="en-US" dirty="0">
              <a:latin typeface="Cambria" panose="02040503050406030204" pitchFamily="18" charset="0"/>
              <a:ea typeface="Cambria" panose="02040503050406030204" pitchFamily="18" charset="0"/>
            </a:endParaRPr>
          </a:p>
          <a:p>
            <a:endParaRPr lang="en-US" altLang="en-US" dirty="0">
              <a:latin typeface="Cambria" panose="02040503050406030204" pitchFamily="18" charset="0"/>
              <a:ea typeface="Cambria" panose="02040503050406030204" pitchFamily="18" charset="0"/>
            </a:endParaRPr>
          </a:p>
          <a:p>
            <a:r>
              <a:rPr lang="en-US" altLang="en-US" dirty="0">
                <a:latin typeface="Cambria" panose="02040503050406030204" pitchFamily="18" charset="0"/>
                <a:ea typeface="Cambria" panose="02040503050406030204" pitchFamily="18" charset="0"/>
              </a:rPr>
              <a:t>AI-Assisted Scheduling: Uses heuristic-based intelligent logic for automated timetable generation.</a:t>
            </a:r>
            <a:endParaRPr lang="en-US" altLang="en-US" dirty="0">
              <a:latin typeface="Cambria" panose="02040503050406030204" pitchFamily="18" charset="0"/>
              <a:ea typeface="Cambria" panose="02040503050406030204" pitchFamily="18" charset="0"/>
            </a:endParaRPr>
          </a:p>
          <a:p>
            <a:endParaRPr lang="en-US" altLang="en-US" dirty="0">
              <a:latin typeface="Cambria" panose="02040503050406030204" pitchFamily="18" charset="0"/>
              <a:ea typeface="Cambria" panose="02040503050406030204" pitchFamily="18" charset="0"/>
            </a:endParaRPr>
          </a:p>
          <a:p>
            <a:r>
              <a:rPr lang="en-US" altLang="en-US" dirty="0">
                <a:latin typeface="Cambria" panose="02040503050406030204" pitchFamily="18" charset="0"/>
                <a:ea typeface="Cambria" panose="02040503050406030204" pitchFamily="18" charset="0"/>
              </a:rPr>
              <a:t>Program-wise Timetables: Generates separate timetables for each academic program.</a:t>
            </a:r>
            <a:endParaRPr lang="en-US" altLang="en-US" dirty="0">
              <a:latin typeface="Cambria" panose="02040503050406030204" pitchFamily="18" charset="0"/>
              <a:ea typeface="Cambria" panose="02040503050406030204" pitchFamily="18" charset="0"/>
            </a:endParaRPr>
          </a:p>
          <a:p>
            <a:endParaRPr lang="en-US" altLang="en-US" dirty="0">
              <a:latin typeface="Cambria" panose="02040503050406030204" pitchFamily="18" charset="0"/>
              <a:ea typeface="Cambria" panose="02040503050406030204" pitchFamily="18" charset="0"/>
            </a:endParaRPr>
          </a:p>
          <a:p>
            <a:r>
              <a:rPr lang="en-US" altLang="en-US" dirty="0">
                <a:latin typeface="Cambria" panose="02040503050406030204" pitchFamily="18" charset="0"/>
                <a:ea typeface="Cambria" panose="02040503050406030204" pitchFamily="18" charset="0"/>
              </a:rPr>
              <a:t>Dynamic Data Input: Allows real-time entry of courses, faculty, and rooms via web interface.</a:t>
            </a:r>
            <a:endParaRPr lang="en-US" altLang="en-US" dirty="0">
              <a:latin typeface="Cambria" panose="02040503050406030204" pitchFamily="18" charset="0"/>
              <a:ea typeface="Cambria" panose="02040503050406030204" pitchFamily="18" charset="0"/>
            </a:endParaRPr>
          </a:p>
          <a:p>
            <a:endParaRPr lang="en-US" altLang="en-US" dirty="0">
              <a:latin typeface="Cambria" panose="02040503050406030204" pitchFamily="18" charset="0"/>
              <a:ea typeface="Cambria" panose="02040503050406030204" pitchFamily="18" charset="0"/>
            </a:endParaRPr>
          </a:p>
          <a:p>
            <a:r>
              <a:rPr lang="en-US" altLang="en-US" dirty="0">
                <a:latin typeface="Cambria" panose="02040503050406030204" pitchFamily="18" charset="0"/>
                <a:ea typeface="Cambria" panose="02040503050406030204" pitchFamily="18" charset="0"/>
              </a:rPr>
              <a:t>Scalable Architecture: Supports future backend and advanced AI/ML integration.</a:t>
            </a:r>
            <a:endParaRPr lang="en-US" altLang="en-US" dirty="0">
              <a:latin typeface="Cambria" panose="02040503050406030204" pitchFamily="18" charset="0"/>
              <a:ea typeface="Cambria" panose="020405030504060302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9677" y="258445"/>
            <a:ext cx="7315200" cy="566700"/>
          </a:xfrm>
        </p:spPr>
        <p:txBody>
          <a:bodyPr/>
          <a:lstStyle/>
          <a:p>
            <a:r>
              <a:rPr lang="en-IN" dirty="0">
                <a:solidFill>
                  <a:schemeClr val="accent1">
                    <a:lumMod val="50000"/>
                  </a:schemeClr>
                </a:solidFill>
                <a:latin typeface="Cambria" panose="02040503050406030204" pitchFamily="18" charset="0"/>
                <a:ea typeface="Cambria" panose="02040503050406030204" pitchFamily="18" charset="0"/>
                <a:cs typeface="Cambria" panose="02040503050406030204" pitchFamily="18" charset="0"/>
                <a:sym typeface="+mn-ea"/>
              </a:rPr>
              <a:t>Timeline (Gantt Chart)</a:t>
            </a:r>
            <a:endParaRPr lang="en-IN" dirty="0">
              <a:solidFill>
                <a:schemeClr val="accent1">
                  <a:lumMod val="50000"/>
                </a:schemeClr>
              </a:solidFill>
              <a:latin typeface="Cambria" panose="02040503050406030204" pitchFamily="18" charset="0"/>
              <a:ea typeface="Cambria" panose="02040503050406030204" pitchFamily="18" charset="0"/>
              <a:cs typeface="Cambria" panose="02040503050406030204" pitchFamily="18" charset="0"/>
              <a:sym typeface="+mn-ea"/>
            </a:endParaRPr>
          </a:p>
        </p:txBody>
      </p:sp>
      <p:sp>
        <p:nvSpPr>
          <p:cNvPr id="5" name="Text Placeholder 4"/>
          <p:cNvSpPr>
            <a:spLocks noGrp="1"/>
          </p:cNvSpPr>
          <p:nvPr>
            <p:ph type="body" idx="1"/>
          </p:nvPr>
        </p:nvSpPr>
        <p:spPr>
          <a:xfrm>
            <a:off x="4344035" y="3883025"/>
            <a:ext cx="3025140" cy="421640"/>
          </a:xfrm>
        </p:spPr>
        <p:txBody>
          <a:bodyPr/>
          <a:p>
            <a:endParaRPr lang="en-US"/>
          </a:p>
        </p:txBody>
      </p:sp>
      <p:pic>
        <p:nvPicPr>
          <p:cNvPr id="3" name="Picture Placeholder 2" descr="R1_GC"/>
          <p:cNvPicPr>
            <a:picLocks noChangeAspect="1"/>
          </p:cNvPicPr>
          <p:nvPr>
            <p:ph type="pic" idx="2"/>
          </p:nvPr>
        </p:nvPicPr>
        <p:blipFill>
          <a:blip r:embed="rId1"/>
          <a:srcRect l="388" r="388"/>
          <a:stretch>
            <a:fillRect/>
          </a:stretch>
        </p:blipFill>
        <p:spPr>
          <a:xfrm>
            <a:off x="1524000" y="1158240"/>
            <a:ext cx="8655685" cy="486918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mbria" panose="02040503050406030204" pitchFamily="18" charset="0"/>
                <a:ea typeface="Cambria" panose="02040503050406030204" pitchFamily="18" charset="0"/>
              </a:rPr>
              <a:t>Github Link</a:t>
            </a:r>
            <a:endParaRPr lang="en-IN" dirty="0"/>
          </a:p>
        </p:txBody>
      </p:sp>
      <p:sp>
        <p:nvSpPr>
          <p:cNvPr id="3" name="Text Placeholder 2"/>
          <p:cNvSpPr>
            <a:spLocks noGrp="1"/>
          </p:cNvSpPr>
          <p:nvPr>
            <p:ph type="body" idx="1"/>
          </p:nvPr>
        </p:nvSpPr>
        <p:spPr/>
        <p:txBody>
          <a:bodyPr/>
          <a:lstStyle/>
          <a:p>
            <a:pPr marL="342900" indent="-190500" algn="just">
              <a:spcBef>
                <a:spcPts val="0"/>
              </a:spcBef>
              <a:buSzPct val="100000"/>
              <a:buNone/>
            </a:pPr>
            <a:r>
              <a:rPr lang="en-US" dirty="0">
                <a:latin typeface="Cambria" panose="02040503050406030204" pitchFamily="18" charset="0"/>
                <a:ea typeface="Cambria" panose="02040503050406030204" pitchFamily="18" charset="0"/>
              </a:rPr>
              <a:t>The Github link provided should have public access permission.</a:t>
            </a: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None/>
            </a:pPr>
            <a:r>
              <a:rPr lang="en-US" b="1" dirty="0">
                <a:solidFill>
                  <a:schemeClr val="accent2">
                    <a:lumMod val="75000"/>
                  </a:schemeClr>
                </a:solidFill>
                <a:latin typeface="Cambria" panose="02040503050406030204" pitchFamily="18" charset="0"/>
                <a:ea typeface="Cambria" panose="02040503050406030204" pitchFamily="18" charset="0"/>
              </a:rPr>
              <a:t>Github Link</a:t>
            </a:r>
            <a:endParaRPr lang="en-US"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None/>
            </a:pPr>
            <a:r>
              <a:rPr lang="en-US" altLang="en-US">
                <a:latin typeface="Cambria" panose="02040503050406030204" pitchFamily="18" charset="0"/>
                <a:ea typeface="Cambria" panose="02040503050406030204" pitchFamily="18" charset="0"/>
                <a:hlinkClick r:id="rId1" action="ppaction://hlinkfile">
                  <a:extLst>
                    <a:ext uri="{DAF060AB-1E55-43B9-8AAB-6FB025537F2F}">
                      <wpsdc:hlinkClr xmlns:wpsdc="http://www.wps.cn/officeDocument/2017/drawingmlCustomData" val="0000FF"/>
                      <wpsdc:folHlinkClr xmlns:wpsdc="http://www.wps.cn/officeDocument/2017/drawingmlCustomData" val="800080"/>
                      <wpsdc:hlinkUnderline xmlns:wpsdc="http://www.wps.cn/officeDocument/2017/drawingmlCustomData" val="1"/>
                    </a:ext>
                  </a:extLst>
                </a:hlinkClick>
              </a:rPr>
              <a:t>https://github.com/Tarishmapikkili/AI-Based-Timetable-Generation-System</a:t>
            </a:r>
            <a:endParaRPr lang="en-US" altLang="en-US">
              <a:latin typeface="Cambria" panose="02040503050406030204" pitchFamily="18" charset="0"/>
              <a:ea typeface="Cambria" panose="02040503050406030204" pitchFamily="18" charset="0"/>
            </a:endParaRPr>
          </a:p>
          <a:p>
            <a:pPr marL="76200" indent="0">
              <a:buNone/>
            </a:pPr>
            <a:endParaRPr lang="en-I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References</a:t>
            </a:r>
            <a:endParaRPr lang="en-IN"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812800" y="1099457"/>
            <a:ext cx="10668000" cy="4996544"/>
          </a:xfrm>
        </p:spPr>
        <p:txBody>
          <a:bodyPr>
            <a:normAutofit lnSpcReduction="20000"/>
          </a:bodyPr>
          <a:lstStyle/>
          <a:p>
            <a:pPr marL="76200" indent="0">
              <a:buNone/>
            </a:pPr>
            <a:r>
              <a:rPr lang="en-IN" dirty="0">
                <a:latin typeface="Cambria" panose="02040503050406030204" pitchFamily="18" charset="0"/>
                <a:ea typeface="Cambria" panose="02040503050406030204" pitchFamily="18" charset="0"/>
                <a:sym typeface="+mn-ea"/>
              </a:rPr>
              <a:t>[1] </a:t>
            </a:r>
            <a:r>
              <a:rPr lang="en-US" altLang="en-US" dirty="0">
                <a:solidFill>
                  <a:schemeClr val="tx1"/>
                </a:solidFill>
                <a:latin typeface="Cambria" panose="02040503050406030204" pitchFamily="18" charset="0"/>
                <a:ea typeface="Cambria" panose="02040503050406030204" pitchFamily="18" charset="0"/>
                <a:sym typeface="+mn-ea"/>
              </a:rPr>
              <a:t>N. R. Joshi and T. V. Agarwal, “Optimizing University Course Timetabling Using Constraint Satisfaction Models,” International Academic Journal of Science and Engineering, vol. 10, no. 4, pp. 5–8, Dec. 2023.</a:t>
            </a:r>
            <a:endParaRPr lang="en-US" altLang="en-US" dirty="0">
              <a:solidFill>
                <a:schemeClr val="tx1"/>
              </a:solidFill>
              <a:latin typeface="Cambria" panose="02040503050406030204" pitchFamily="18" charset="0"/>
              <a:ea typeface="Cambria" panose="02040503050406030204" pitchFamily="18" charset="0"/>
            </a:endParaRPr>
          </a:p>
          <a:p>
            <a:pPr marL="76200" indent="0">
              <a:buNone/>
            </a:pPr>
            <a:r>
              <a:rPr lang="en-US" altLang="en-US" dirty="0">
                <a:solidFill>
                  <a:schemeClr val="tx1"/>
                </a:solidFill>
                <a:latin typeface="Cambria" panose="02040503050406030204" pitchFamily="18" charset="0"/>
                <a:ea typeface="Cambria" panose="02040503050406030204" pitchFamily="18" charset="0"/>
                <a:sym typeface="+mn-ea"/>
              </a:rPr>
              <a:t>DOI: </a:t>
            </a:r>
            <a:r>
              <a:rPr lang="en-US" altLang="en-US" dirty="0">
                <a:solidFill>
                  <a:schemeClr val="tx1"/>
                </a:solidFill>
                <a:latin typeface="Cambria" panose="02040503050406030204" pitchFamily="18" charset="0"/>
                <a:ea typeface="Cambria" panose="02040503050406030204" pitchFamily="18" charset="0"/>
                <a:sym typeface="+mn-ea"/>
                <a:hlinkClick r:id="rId1" action="ppaction://hlinkfile"/>
              </a:rPr>
              <a:t>https://doi.org/10.71086/IAJSE/V10I4/IAJSE1032</a:t>
            </a:r>
            <a:endParaRPr lang="en-US" altLang="en-US" dirty="0">
              <a:solidFill>
                <a:schemeClr val="tx1"/>
              </a:solidFill>
              <a:latin typeface="Cambria" panose="02040503050406030204" pitchFamily="18" charset="0"/>
              <a:ea typeface="Cambria" panose="02040503050406030204" pitchFamily="18" charset="0"/>
            </a:endParaRPr>
          </a:p>
          <a:p>
            <a:pPr marL="76200" indent="0">
              <a:buNone/>
            </a:pPr>
            <a:endParaRPr lang="en-IN" dirty="0">
              <a:latin typeface="Cambria" panose="02040503050406030204" pitchFamily="18" charset="0"/>
              <a:ea typeface="Cambria" panose="02040503050406030204" pitchFamily="18" charset="0"/>
              <a:sym typeface="+mn-ea"/>
            </a:endParaRPr>
          </a:p>
          <a:p>
            <a:pPr marL="76200" indent="0">
              <a:buNone/>
            </a:pPr>
            <a:r>
              <a:rPr lang="en-IN" dirty="0">
                <a:latin typeface="Cambria" panose="02040503050406030204" pitchFamily="18" charset="0"/>
                <a:ea typeface="Cambria" panose="02040503050406030204" pitchFamily="18" charset="0"/>
                <a:sym typeface="+mn-ea"/>
              </a:rPr>
              <a:t>[2] </a:t>
            </a:r>
            <a:r>
              <a:rPr lang="en-US" altLang="en-US" dirty="0">
                <a:solidFill>
                  <a:schemeClr val="tx1"/>
                </a:solidFill>
                <a:latin typeface="Cambria" panose="02040503050406030204" pitchFamily="18" charset="0"/>
                <a:ea typeface="Cambria" panose="02040503050406030204" pitchFamily="18" charset="0"/>
                <a:sym typeface="+mn-ea"/>
              </a:rPr>
              <a:t>R. P. Badoni et al., “An Exploration and Exploitation-Based Metaheuristic Approach for University Course Timetabling Problems,” Axioms, vol. 12, no. 8, p. 720, Jul. 2023.</a:t>
            </a:r>
            <a:endParaRPr lang="en-US" altLang="en-US" dirty="0">
              <a:solidFill>
                <a:schemeClr val="tx1"/>
              </a:solidFill>
              <a:latin typeface="Cambria" panose="02040503050406030204" pitchFamily="18" charset="0"/>
              <a:ea typeface="Cambria" panose="02040503050406030204" pitchFamily="18" charset="0"/>
            </a:endParaRPr>
          </a:p>
          <a:p>
            <a:pPr marL="76200" indent="0">
              <a:buNone/>
            </a:pPr>
            <a:r>
              <a:rPr lang="en-US" altLang="en-US" dirty="0">
                <a:solidFill>
                  <a:schemeClr val="tx1"/>
                </a:solidFill>
                <a:latin typeface="Cambria" panose="02040503050406030204" pitchFamily="18" charset="0"/>
                <a:ea typeface="Cambria" panose="02040503050406030204" pitchFamily="18" charset="0"/>
                <a:sym typeface="+mn-ea"/>
              </a:rPr>
              <a:t>DOI:</a:t>
            </a:r>
            <a:r>
              <a:rPr lang="en-US" altLang="en-US" dirty="0">
                <a:solidFill>
                  <a:schemeClr val="tx1"/>
                </a:solidFill>
                <a:latin typeface="Cambria" panose="02040503050406030204" pitchFamily="18" charset="0"/>
                <a:ea typeface="Cambria" panose="02040503050406030204" pitchFamily="18" charset="0"/>
                <a:sym typeface="+mn-ea"/>
                <a:hlinkClick r:id="rId2" action="ppaction://hlinkfile"/>
              </a:rPr>
              <a:t> https://doi.org/10.3390/axioms12080720</a:t>
            </a:r>
            <a:endParaRPr lang="en-US" altLang="en-US" dirty="0">
              <a:solidFill>
                <a:schemeClr val="tx1"/>
              </a:solidFill>
              <a:latin typeface="Cambria" panose="02040503050406030204" pitchFamily="18" charset="0"/>
              <a:ea typeface="Cambria" panose="02040503050406030204" pitchFamily="18" charset="0"/>
            </a:endParaRPr>
          </a:p>
          <a:p>
            <a:pPr marL="76200" indent="0">
              <a:buNone/>
            </a:pPr>
            <a:endParaRPr lang="en-IN" dirty="0">
              <a:latin typeface="Cambria" panose="02040503050406030204" pitchFamily="18" charset="0"/>
              <a:ea typeface="Cambria" panose="02040503050406030204" pitchFamily="18" charset="0"/>
              <a:sym typeface="+mn-ea"/>
            </a:endParaRPr>
          </a:p>
          <a:p>
            <a:pPr marL="76200" indent="0">
              <a:buNone/>
            </a:pPr>
            <a:r>
              <a:rPr lang="en-IN" dirty="0">
                <a:latin typeface="Cambria" panose="02040503050406030204" pitchFamily="18" charset="0"/>
                <a:ea typeface="Cambria" panose="02040503050406030204" pitchFamily="18" charset="0"/>
                <a:sym typeface="+mn-ea"/>
              </a:rPr>
              <a:t>[3] </a:t>
            </a:r>
            <a:r>
              <a:rPr lang="en-US" altLang="en-US" dirty="0">
                <a:solidFill>
                  <a:schemeClr val="tx1"/>
                </a:solidFill>
                <a:latin typeface="Cambria" panose="02040503050406030204" pitchFamily="18" charset="0"/>
                <a:ea typeface="Cambria" panose="02040503050406030204" pitchFamily="18" charset="0"/>
                <a:sym typeface="+mn-ea"/>
              </a:rPr>
              <a:t>Wren, A. (1996). Scheduling, timetabling and rostering — A special relationship?. In: Burke, E., Ross, P. (eds) Practice and Theory of Automated Timetabling. PATAT 1995. Lecture Notes in Computer Science, vol 1153. Springer, Berlin, Heidelberg. </a:t>
            </a:r>
            <a:r>
              <a:rPr lang="en-US" altLang="en-US" dirty="0">
                <a:solidFill>
                  <a:schemeClr val="tx1"/>
                </a:solidFill>
                <a:latin typeface="Cambria" panose="02040503050406030204" pitchFamily="18" charset="0"/>
                <a:ea typeface="Cambria" panose="02040503050406030204" pitchFamily="18" charset="0"/>
                <a:sym typeface="+mn-ea"/>
                <a:hlinkClick r:id="rId3" action="ppaction://hlinkfile"/>
              </a:rPr>
              <a:t>https://doi.org/10.1007/3-540-61794-9_51</a:t>
            </a:r>
            <a:endParaRPr lang="en-US" altLang="en-US" dirty="0">
              <a:solidFill>
                <a:schemeClr val="tx1"/>
              </a:solidFill>
              <a:latin typeface="Cambria" panose="02040503050406030204" pitchFamily="18" charset="0"/>
              <a:ea typeface="Cambria" panose="02040503050406030204" pitchFamily="18" charset="0"/>
            </a:endParaRPr>
          </a:p>
          <a:p>
            <a:pPr marL="76200" indent="0">
              <a:buNone/>
            </a:pPr>
            <a:endParaRPr lang="en-IN" dirty="0">
              <a:latin typeface="Cambria" panose="02040503050406030204" pitchFamily="18" charset="0"/>
              <a:ea typeface="Cambria" panose="020405030504060302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ea typeface="Cambria" panose="02040503050406030204" pitchFamily="18" charset="0"/>
                <a:cs typeface="Times New Roman" panose="02020603050405020304" pitchFamily="18" charset="0"/>
              </a:rPr>
              <a:t>References</a:t>
            </a:r>
            <a:endParaRPr lang="en-IN"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3" name="Text Placeholder 2"/>
          <p:cNvSpPr>
            <a:spLocks noGrp="1"/>
          </p:cNvSpPr>
          <p:nvPr>
            <p:ph type="body" idx="1"/>
          </p:nvPr>
        </p:nvSpPr>
        <p:spPr>
          <a:xfrm>
            <a:off x="812800" y="1055916"/>
            <a:ext cx="10668000" cy="4953000"/>
          </a:xfrm>
        </p:spPr>
        <p:txBody>
          <a:bodyPr>
            <a:normAutofit fontScale="95000"/>
          </a:bodyPr>
          <a:lstStyle/>
          <a:p>
            <a:pPr marL="76200" indent="0">
              <a:buNone/>
            </a:pPr>
            <a:r>
              <a:rPr lang="en-IN" dirty="0">
                <a:solidFill>
                  <a:schemeClr val="tx1"/>
                </a:solidFill>
                <a:latin typeface="Cambria" panose="02040503050406030204" pitchFamily="18" charset="0"/>
                <a:ea typeface="Cambria" panose="02040503050406030204" pitchFamily="18" charset="0"/>
                <a:sym typeface="+mn-ea"/>
              </a:rPr>
              <a:t>[4] </a:t>
            </a:r>
            <a:r>
              <a:rPr lang="en-US" altLang="en-US" dirty="0">
                <a:solidFill>
                  <a:schemeClr val="tx1"/>
                </a:solidFill>
                <a:latin typeface="Cambria" panose="02040503050406030204" pitchFamily="18" charset="0"/>
                <a:ea typeface="Cambria" panose="02040503050406030204" pitchFamily="18" charset="0"/>
                <a:sym typeface="+mn-ea"/>
              </a:rPr>
              <a:t>V. Shah, A. Gadhvi, N. Oza, M. Sankhe, and M. Mangla, “Optimizing Timetable Generation for Educational Institute Using Genetic Algorithm,” in Proceedings of the International Conference on Recent Advances in Sustainable Intelligent Technology Applications (RAMSITA 2025), 2025.</a:t>
            </a:r>
            <a:endParaRPr lang="en-US" altLang="en-US" dirty="0">
              <a:solidFill>
                <a:schemeClr val="tx1"/>
              </a:solidFill>
              <a:latin typeface="Cambria" panose="02040503050406030204" pitchFamily="18" charset="0"/>
              <a:ea typeface="Cambria" panose="02040503050406030204" pitchFamily="18" charset="0"/>
            </a:endParaRPr>
          </a:p>
          <a:p>
            <a:pPr marL="76200" indent="0">
              <a:buNone/>
            </a:pPr>
            <a:r>
              <a:rPr lang="en-US" altLang="en-US" dirty="0">
                <a:solidFill>
                  <a:schemeClr val="tx1"/>
                </a:solidFill>
                <a:latin typeface="Cambria" panose="02040503050406030204" pitchFamily="18" charset="0"/>
                <a:ea typeface="Cambria" panose="02040503050406030204" pitchFamily="18" charset="0"/>
                <a:sym typeface="+mn-ea"/>
              </a:rPr>
              <a:t>DOI: </a:t>
            </a:r>
            <a:r>
              <a:rPr lang="en-US" altLang="en-US" dirty="0">
                <a:solidFill>
                  <a:schemeClr val="tx1"/>
                </a:solidFill>
                <a:latin typeface="Cambria" panose="02040503050406030204" pitchFamily="18" charset="0"/>
                <a:ea typeface="Cambria" panose="02040503050406030204" pitchFamily="18" charset="0"/>
                <a:sym typeface="+mn-ea"/>
                <a:hlinkClick r:id="rId1" action="ppaction://hlinkfile"/>
              </a:rPr>
              <a:t>https://doi.org/10.2991/978-94-6463-716-8_37</a:t>
            </a:r>
            <a:endParaRPr lang="en-US" altLang="en-US" dirty="0">
              <a:solidFill>
                <a:schemeClr val="tx1"/>
              </a:solidFill>
              <a:latin typeface="Cambria" panose="02040503050406030204" pitchFamily="18" charset="0"/>
              <a:ea typeface="Cambria" panose="02040503050406030204" pitchFamily="18" charset="0"/>
            </a:endParaRPr>
          </a:p>
          <a:p>
            <a:pPr marL="76200" indent="0">
              <a:buNone/>
            </a:pPr>
            <a:r>
              <a:rPr lang="en-IN" dirty="0">
                <a:solidFill>
                  <a:schemeClr val="tx1"/>
                </a:solidFill>
                <a:latin typeface="Cambria" panose="02040503050406030204" pitchFamily="18" charset="0"/>
                <a:ea typeface="Cambria" panose="02040503050406030204" pitchFamily="18" charset="0"/>
                <a:sym typeface="+mn-ea"/>
              </a:rPr>
              <a:t>[5] </a:t>
            </a:r>
            <a:r>
              <a:rPr lang="en-US" altLang="en-US" dirty="0">
                <a:solidFill>
                  <a:schemeClr val="tx1"/>
                </a:solidFill>
                <a:latin typeface="Cambria" panose="02040503050406030204" pitchFamily="18" charset="0"/>
                <a:ea typeface="Cambria" panose="02040503050406030204" pitchFamily="18" charset="0"/>
                <a:sym typeface="+mn-ea"/>
              </a:rPr>
              <a:t>“A Survey Paper on Timetable Generator Using AI Methods,” International Research Journal of Advanced Engineering Hub, vol. 3, no. 03, pp. 860–864, Mar. 2025.</a:t>
            </a:r>
            <a:endParaRPr lang="en-US" altLang="en-US" dirty="0">
              <a:solidFill>
                <a:schemeClr val="tx1"/>
              </a:solidFill>
              <a:latin typeface="Cambria" panose="02040503050406030204" pitchFamily="18" charset="0"/>
              <a:ea typeface="Cambria" panose="02040503050406030204" pitchFamily="18" charset="0"/>
            </a:endParaRPr>
          </a:p>
          <a:p>
            <a:pPr marL="76200" indent="0">
              <a:buNone/>
            </a:pPr>
            <a:r>
              <a:rPr lang="en-US" altLang="en-US" dirty="0">
                <a:solidFill>
                  <a:schemeClr val="tx1"/>
                </a:solidFill>
                <a:latin typeface="Cambria" panose="02040503050406030204" pitchFamily="18" charset="0"/>
                <a:ea typeface="Cambria" panose="02040503050406030204" pitchFamily="18" charset="0"/>
                <a:sym typeface="+mn-ea"/>
              </a:rPr>
              <a:t>DOI: </a:t>
            </a:r>
            <a:r>
              <a:rPr lang="en-US" altLang="en-US" dirty="0">
                <a:solidFill>
                  <a:schemeClr val="tx1"/>
                </a:solidFill>
                <a:latin typeface="Cambria" panose="02040503050406030204" pitchFamily="18" charset="0"/>
                <a:ea typeface="Cambria" panose="02040503050406030204" pitchFamily="18" charset="0"/>
                <a:sym typeface="+mn-ea"/>
                <a:hlinkClick r:id="rId2" action="ppaction://hlinkfile"/>
              </a:rPr>
              <a:t>https://doi.org/10.47392/IRJAEH.2025.0122</a:t>
            </a:r>
            <a:endParaRPr lang="en-US" altLang="en-US" dirty="0">
              <a:solidFill>
                <a:schemeClr val="tx1"/>
              </a:solidFill>
              <a:latin typeface="Cambria" panose="02040503050406030204" pitchFamily="18" charset="0"/>
              <a:ea typeface="Cambria" panose="02040503050406030204" pitchFamily="18" charset="0"/>
            </a:endParaRPr>
          </a:p>
          <a:p>
            <a:pPr marL="76200" indent="0">
              <a:buNone/>
            </a:pPr>
            <a:r>
              <a:rPr lang="en-IN" dirty="0">
                <a:solidFill>
                  <a:schemeClr val="tx1"/>
                </a:solidFill>
                <a:latin typeface="Cambria" panose="02040503050406030204" pitchFamily="18" charset="0"/>
                <a:ea typeface="Cambria" panose="02040503050406030204" pitchFamily="18" charset="0"/>
                <a:sym typeface="+mn-ea"/>
              </a:rPr>
              <a:t>[6] </a:t>
            </a:r>
            <a:r>
              <a:rPr lang="en-US" altLang="en-US" dirty="0">
                <a:solidFill>
                  <a:schemeClr val="tx1"/>
                </a:solidFill>
                <a:latin typeface="Cambria" panose="02040503050406030204" pitchFamily="18" charset="0"/>
                <a:ea typeface="Cambria" panose="02040503050406030204" pitchFamily="18" charset="0"/>
                <a:sym typeface="+mn-ea"/>
              </a:rPr>
              <a:t>X. Han and D. Wang, “Gradual Optimization of University Course Scheduling Problem Using Genetic Algorithm and Dynamic Programming,” Algorithms, vol. 18, no. 3, p. 158, 2025.</a:t>
            </a:r>
            <a:endParaRPr lang="en-US" altLang="en-US" dirty="0">
              <a:solidFill>
                <a:schemeClr val="tx1"/>
              </a:solidFill>
              <a:latin typeface="Cambria" panose="02040503050406030204" pitchFamily="18" charset="0"/>
              <a:ea typeface="Cambria" panose="02040503050406030204" pitchFamily="18" charset="0"/>
            </a:endParaRPr>
          </a:p>
          <a:p>
            <a:pPr marL="76200" indent="0">
              <a:buNone/>
            </a:pPr>
            <a:r>
              <a:rPr lang="en-US" altLang="en-US" dirty="0">
                <a:solidFill>
                  <a:schemeClr val="tx1"/>
                </a:solidFill>
                <a:latin typeface="Cambria" panose="02040503050406030204" pitchFamily="18" charset="0"/>
                <a:ea typeface="Cambria" panose="02040503050406030204" pitchFamily="18" charset="0"/>
                <a:sym typeface="+mn-ea"/>
              </a:rPr>
              <a:t>DOI: </a:t>
            </a:r>
            <a:r>
              <a:rPr lang="en-US" altLang="en-US" dirty="0">
                <a:solidFill>
                  <a:schemeClr val="tx1"/>
                </a:solidFill>
                <a:latin typeface="Cambria" panose="02040503050406030204" pitchFamily="18" charset="0"/>
                <a:ea typeface="Cambria" panose="02040503050406030204" pitchFamily="18" charset="0"/>
                <a:sym typeface="+mn-ea"/>
                <a:hlinkClick r:id="rId3" action="ppaction://hlinkfile"/>
              </a:rPr>
              <a:t>https://doi.org/10.3390/a18030158</a:t>
            </a:r>
            <a:endParaRPr lang="en-IN" dirty="0">
              <a:latin typeface="Cambria" panose="02040503050406030204" pitchFamily="18" charset="0"/>
              <a:ea typeface="Cambria" panose="02040503050406030204" pitchFamily="18" charset="0"/>
            </a:endParaRPr>
          </a:p>
          <a:p>
            <a:pPr marL="76200" indent="0">
              <a:buNone/>
            </a:pPr>
            <a:endParaRPr lang="en-IN" dirty="0">
              <a:solidFill>
                <a:schemeClr val="tx1"/>
              </a:solidFill>
              <a:latin typeface="Cambria" panose="02040503050406030204" pitchFamily="18" charset="0"/>
              <a:ea typeface="Cambria" panose="020405030504060302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dirty="0">
                <a:latin typeface="Times New Roman" panose="02020603050405020304" pitchFamily="18" charset="0"/>
                <a:ea typeface="Cambria" panose="02040503050406030204" pitchFamily="18" charset="0"/>
                <a:cs typeface="Times New Roman" panose="02020603050405020304" pitchFamily="18" charset="0"/>
                <a:sym typeface="+mn-ea"/>
              </a:rPr>
              <a:t>References</a:t>
            </a:r>
            <a:endParaRPr lang="en-US"/>
          </a:p>
        </p:txBody>
      </p:sp>
      <p:sp>
        <p:nvSpPr>
          <p:cNvPr id="3" name="Text Placeholder 2"/>
          <p:cNvSpPr>
            <a:spLocks noGrp="1"/>
          </p:cNvSpPr>
          <p:nvPr>
            <p:ph type="body" idx="1"/>
          </p:nvPr>
        </p:nvSpPr>
        <p:spPr/>
        <p:txBody>
          <a:bodyPr>
            <a:normAutofit fontScale="90000" lnSpcReduction="10000"/>
          </a:bodyPr>
          <a:p>
            <a:pPr marL="76200" indent="0">
              <a:buNone/>
            </a:pPr>
            <a:r>
              <a:rPr lang="en-IN" dirty="0">
                <a:solidFill>
                  <a:schemeClr val="tx1"/>
                </a:solidFill>
                <a:latin typeface="Cambria" panose="02040503050406030204" pitchFamily="18" charset="0"/>
                <a:ea typeface="Cambria" panose="02040503050406030204" pitchFamily="18" charset="0"/>
                <a:sym typeface="+mn-ea"/>
              </a:rPr>
              <a:t>[7] </a:t>
            </a:r>
            <a:r>
              <a:rPr lang="en-US" altLang="en-US" dirty="0">
                <a:solidFill>
                  <a:schemeClr val="tx1"/>
                </a:solidFill>
                <a:latin typeface="Cambria" panose="02040503050406030204" pitchFamily="18" charset="0"/>
                <a:ea typeface="Cambria" panose="02040503050406030204" pitchFamily="18" charset="0"/>
                <a:sym typeface="+mn-ea"/>
              </a:rPr>
              <a:t>Z. Bratković, T. Herman, V. Omrčen, M. Čupić, and D. Jakobović, “University Course Timetabling with Genetic Algorithm: A Laboratory Exercises Case Study,” in Evolutionary Computation in Combinatorial Optimization (EvoCOP 2009), Lecture Notes in Computer Science, vol. 5482. Springer, 2009.</a:t>
            </a:r>
            <a:endParaRPr lang="en-US" altLang="en-US" dirty="0">
              <a:solidFill>
                <a:schemeClr val="tx1"/>
              </a:solidFill>
              <a:latin typeface="Cambria" panose="02040503050406030204" pitchFamily="18" charset="0"/>
              <a:ea typeface="Cambria" panose="02040503050406030204" pitchFamily="18" charset="0"/>
            </a:endParaRPr>
          </a:p>
          <a:p>
            <a:pPr marL="76200" indent="0">
              <a:buNone/>
            </a:pPr>
            <a:r>
              <a:rPr lang="en-US" altLang="en-US" dirty="0">
                <a:solidFill>
                  <a:schemeClr val="tx1"/>
                </a:solidFill>
                <a:latin typeface="Cambria" panose="02040503050406030204" pitchFamily="18" charset="0"/>
                <a:ea typeface="Cambria" panose="02040503050406030204" pitchFamily="18" charset="0"/>
                <a:sym typeface="+mn-ea"/>
              </a:rPr>
              <a:t>DOI: </a:t>
            </a:r>
            <a:r>
              <a:rPr lang="en-US" altLang="en-US" dirty="0">
                <a:solidFill>
                  <a:schemeClr val="tx1"/>
                </a:solidFill>
                <a:latin typeface="Cambria" panose="02040503050406030204" pitchFamily="18" charset="0"/>
                <a:ea typeface="Cambria" panose="02040503050406030204" pitchFamily="18" charset="0"/>
                <a:sym typeface="+mn-ea"/>
                <a:hlinkClick r:id="rId1" action="ppaction://hlinkfile"/>
              </a:rPr>
              <a:t>https://doi.org/10.1007/978-3-642-01009-5_21</a:t>
            </a:r>
            <a:endParaRPr lang="fr-FR" b="1" dirty="0">
              <a:solidFill>
                <a:schemeClr val="tx1"/>
              </a:solidFill>
              <a:latin typeface="Cambria" panose="02040503050406030204" pitchFamily="18" charset="0"/>
              <a:ea typeface="Cambria" panose="02040503050406030204" pitchFamily="18" charset="0"/>
            </a:endParaRPr>
          </a:p>
          <a:p>
            <a:pPr marL="76200" indent="0">
              <a:buNone/>
            </a:pPr>
            <a:endParaRPr lang="en-IN" altLang="en-US">
              <a:latin typeface="Cambria" panose="02040503050406030204" pitchFamily="18" charset="0"/>
              <a:cs typeface="Cambria" panose="02040503050406030204" pitchFamily="18" charset="0"/>
              <a:sym typeface="+mn-ea"/>
            </a:endParaRPr>
          </a:p>
          <a:p>
            <a:pPr marL="76200" indent="0">
              <a:buNone/>
            </a:pPr>
            <a:r>
              <a:rPr lang="en-IN" altLang="en-US">
                <a:latin typeface="Cambria" panose="02040503050406030204" pitchFamily="18" charset="0"/>
                <a:cs typeface="Cambria" panose="02040503050406030204" pitchFamily="18" charset="0"/>
                <a:sym typeface="+mn-ea"/>
              </a:rPr>
              <a:t>[8]</a:t>
            </a:r>
            <a:r>
              <a:rPr lang="en-US" altLang="en-US">
                <a:latin typeface="Cambria" panose="02040503050406030204" pitchFamily="18" charset="0"/>
                <a:cs typeface="Cambria" panose="02040503050406030204" pitchFamily="18" charset="0"/>
                <a:sym typeface="+mn-ea"/>
              </a:rPr>
              <a:t>A. Muklason, A. Marom, and I. G. A. Premananda, “Automated Course Timetabling Optimization Using Tabu-Simulated Annealing Hyper-Heuristics Algorithm,” Khazanah Informatika: Jurnal Ilmu Komputer dan Informatika, vol. 10, no. 1, 2024.</a:t>
            </a:r>
            <a:endParaRPr lang="en-US" altLang="en-US">
              <a:latin typeface="Cambria" panose="02040503050406030204" pitchFamily="18" charset="0"/>
              <a:cs typeface="Cambria" panose="02040503050406030204" pitchFamily="18" charset="0"/>
            </a:endParaRPr>
          </a:p>
          <a:p>
            <a:pPr marL="76200" indent="0">
              <a:buNone/>
            </a:pPr>
            <a:r>
              <a:rPr lang="en-US" altLang="en-US">
                <a:latin typeface="Cambria" panose="02040503050406030204" pitchFamily="18" charset="0"/>
                <a:cs typeface="Cambria" panose="02040503050406030204" pitchFamily="18" charset="0"/>
                <a:sym typeface="+mn-ea"/>
              </a:rPr>
              <a:t>DOI : </a:t>
            </a:r>
            <a:r>
              <a:rPr lang="en-US" altLang="en-US">
                <a:latin typeface="Cambria" panose="02040503050406030204" pitchFamily="18" charset="0"/>
                <a:cs typeface="Cambria" panose="02040503050406030204" pitchFamily="18" charset="0"/>
                <a:sym typeface="+mn-ea"/>
                <a:hlinkClick r:id="rId2" action="ppaction://hlinkfile"/>
              </a:rPr>
              <a:t>https://doi.org/10.23917/khif.v10i1.4835</a:t>
            </a:r>
            <a:endParaRPr lang="en-US" altLang="en-US">
              <a:latin typeface="Cambria" panose="02040503050406030204" pitchFamily="18" charset="0"/>
              <a:cs typeface="Cambria" panose="02040503050406030204" pitchFamily="18" charset="0"/>
              <a:hlinkClick r:id="rId2" action="ppaction://hlinkfile"/>
            </a:endParaRPr>
          </a:p>
          <a:p>
            <a:pPr marL="76200" indent="0">
              <a:buNone/>
            </a:pPr>
            <a:endParaRPr lang="en-IN" dirty="0">
              <a:latin typeface="Cambria" panose="02040503050406030204" pitchFamily="18" charset="0"/>
              <a:ea typeface="Cambria" panose="02040503050406030204" pitchFamily="18" charset="0"/>
              <a:sym typeface="+mn-ea"/>
            </a:endParaRPr>
          </a:p>
          <a:p>
            <a:pPr marL="76200" indent="0">
              <a:buNone/>
            </a:pPr>
            <a:r>
              <a:rPr lang="en-IN" dirty="0">
                <a:latin typeface="Cambria" panose="02040503050406030204" pitchFamily="18" charset="0"/>
                <a:ea typeface="Cambria" panose="02040503050406030204" pitchFamily="18" charset="0"/>
                <a:sym typeface="+mn-ea"/>
              </a:rPr>
              <a:t>[9] </a:t>
            </a:r>
            <a:r>
              <a:rPr lang="en-US" altLang="en-US" dirty="0">
                <a:solidFill>
                  <a:schemeClr val="tx1"/>
                </a:solidFill>
                <a:latin typeface="Cambria" panose="02040503050406030204" pitchFamily="18" charset="0"/>
                <a:ea typeface="Cambria" panose="02040503050406030204" pitchFamily="18" charset="0"/>
                <a:sym typeface="+mn-ea"/>
              </a:rPr>
              <a:t>A. R. Mahlous and H. Mahlous, “Student Timetabling Genetic Algorithm Accounting for Student Preferences,” PeerJ Computer Science, vol. 9, p. e1200, Feb. 2023.</a:t>
            </a:r>
            <a:endParaRPr lang="en-US" altLang="en-US" dirty="0">
              <a:solidFill>
                <a:schemeClr val="tx1"/>
              </a:solidFill>
              <a:latin typeface="Cambria" panose="02040503050406030204" pitchFamily="18" charset="0"/>
              <a:ea typeface="Cambria" panose="02040503050406030204" pitchFamily="18" charset="0"/>
            </a:endParaRPr>
          </a:p>
          <a:p>
            <a:pPr marL="76200" indent="0">
              <a:buNone/>
            </a:pPr>
            <a:r>
              <a:rPr lang="en-US" altLang="en-US" dirty="0">
                <a:solidFill>
                  <a:schemeClr val="tx1"/>
                </a:solidFill>
                <a:latin typeface="Cambria" panose="02040503050406030204" pitchFamily="18" charset="0"/>
                <a:ea typeface="Cambria" panose="02040503050406030204" pitchFamily="18" charset="0"/>
                <a:sym typeface="+mn-ea"/>
              </a:rPr>
              <a:t>DOI: </a:t>
            </a:r>
            <a:r>
              <a:rPr lang="en-US" altLang="en-US" dirty="0">
                <a:solidFill>
                  <a:schemeClr val="tx1"/>
                </a:solidFill>
                <a:latin typeface="Cambria" panose="02040503050406030204" pitchFamily="18" charset="0"/>
                <a:ea typeface="Cambria" panose="02040503050406030204" pitchFamily="18" charset="0"/>
                <a:sym typeface="+mn-ea"/>
                <a:hlinkClick r:id="rId3" action="ppaction://hlinkfile"/>
              </a:rPr>
              <a:t>https://doi.org/10.7717/peerj-cs.1200</a:t>
            </a:r>
            <a:endParaRPr lang="en-US" altLang="en-US" dirty="0">
              <a:solidFill>
                <a:schemeClr val="tx1"/>
              </a:solidFill>
              <a:latin typeface="Cambria" panose="02040503050406030204" pitchFamily="18" charset="0"/>
              <a:ea typeface="Cambria" panose="02040503050406030204" pitchFamily="18" charset="0"/>
            </a:endParaRPr>
          </a:p>
          <a:p>
            <a:pPr marL="76200" indent="0">
              <a:buNone/>
            </a:pP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dirty="0">
                <a:latin typeface="Times New Roman" panose="02020603050405020304" pitchFamily="18" charset="0"/>
                <a:ea typeface="Cambria" panose="02040503050406030204" pitchFamily="18" charset="0"/>
                <a:cs typeface="Times New Roman" panose="02020603050405020304" pitchFamily="18" charset="0"/>
                <a:sym typeface="+mn-ea"/>
              </a:rPr>
              <a:t>References</a:t>
            </a:r>
            <a:endParaRPr lang="en-US"/>
          </a:p>
        </p:txBody>
      </p:sp>
      <p:sp>
        <p:nvSpPr>
          <p:cNvPr id="3" name="Text Placeholder 2"/>
          <p:cNvSpPr>
            <a:spLocks noGrp="1"/>
          </p:cNvSpPr>
          <p:nvPr>
            <p:ph type="body" idx="1"/>
          </p:nvPr>
        </p:nvSpPr>
        <p:spPr/>
        <p:txBody>
          <a:bodyPr/>
          <a:p>
            <a:pPr marL="76200" indent="0">
              <a:buNone/>
            </a:pPr>
            <a:r>
              <a:rPr lang="en-US" altLang="en-US">
                <a:latin typeface="Cambria" panose="02040503050406030204" pitchFamily="18" charset="0"/>
                <a:cs typeface="Cambria" panose="02040503050406030204" pitchFamily="18" charset="0"/>
                <a:sym typeface="+mn-ea"/>
              </a:rPr>
              <a:t>[1</a:t>
            </a:r>
            <a:r>
              <a:rPr lang="en-IN" altLang="en-US">
                <a:latin typeface="Cambria" panose="02040503050406030204" pitchFamily="18" charset="0"/>
                <a:cs typeface="Cambria" panose="02040503050406030204" pitchFamily="18" charset="0"/>
                <a:sym typeface="+mn-ea"/>
              </a:rPr>
              <a:t>0</a:t>
            </a:r>
            <a:r>
              <a:rPr lang="en-US" altLang="en-US">
                <a:latin typeface="Cambria" panose="02040503050406030204" pitchFamily="18" charset="0"/>
                <a:cs typeface="Cambria" panose="02040503050406030204" pitchFamily="18" charset="0"/>
                <a:sym typeface="+mn-ea"/>
              </a:rPr>
              <a:t>] E. K. Burke and S. Petrovic,</a:t>
            </a:r>
            <a:endParaRPr lang="en-US" altLang="en-US">
              <a:latin typeface="Cambria" panose="02040503050406030204" pitchFamily="18" charset="0"/>
              <a:cs typeface="Cambria" panose="02040503050406030204" pitchFamily="18" charset="0"/>
            </a:endParaRPr>
          </a:p>
          <a:p>
            <a:pPr marL="76200" indent="0">
              <a:buNone/>
            </a:pPr>
            <a:r>
              <a:rPr lang="en-US" altLang="en-US">
                <a:latin typeface="Cambria" panose="02040503050406030204" pitchFamily="18" charset="0"/>
                <a:cs typeface="Cambria" panose="02040503050406030204" pitchFamily="18" charset="0"/>
                <a:sym typeface="+mn-ea"/>
              </a:rPr>
              <a:t>“Recent research directions in automated timetabling,” European Journal of Operational Research, vol. 140, no. 2, pp. 266–280, Jul. 2002.</a:t>
            </a:r>
            <a:endParaRPr lang="en-US" altLang="en-US">
              <a:latin typeface="Cambria" panose="02040503050406030204" pitchFamily="18" charset="0"/>
              <a:cs typeface="Cambria" panose="02040503050406030204" pitchFamily="18" charset="0"/>
            </a:endParaRPr>
          </a:p>
          <a:p>
            <a:pPr marL="76200" indent="0">
              <a:buNone/>
            </a:pPr>
            <a:r>
              <a:rPr lang="en-US" altLang="en-US">
                <a:latin typeface="Cambria" panose="02040503050406030204" pitchFamily="18" charset="0"/>
                <a:cs typeface="Cambria" panose="02040503050406030204" pitchFamily="18" charset="0"/>
                <a:sym typeface="+mn-ea"/>
              </a:rPr>
              <a:t>DOI:</a:t>
            </a:r>
            <a:r>
              <a:rPr lang="en-US" altLang="en-US">
                <a:latin typeface="Cambria" panose="02040503050406030204" pitchFamily="18" charset="0"/>
                <a:cs typeface="Cambria" panose="02040503050406030204" pitchFamily="18" charset="0"/>
                <a:sym typeface="+mn-ea"/>
                <a:hlinkClick r:id="rId1" action="ppaction://hlinkfile">
                  <a:extLst>
                    <a:ext uri="{DAF060AB-1E55-43B9-8AAB-6FB025537F2F}">
                      <wpsdc:hlinkClr xmlns:wpsdc="http://www.wps.cn/officeDocument/2017/drawingmlCustomData" val="0000FF"/>
                      <wpsdc:folHlinkClr xmlns:wpsdc="http://www.wps.cn/officeDocument/2017/drawingmlCustomData" val="800080"/>
                      <wpsdc:hlinkUnderline xmlns:wpsdc="http://www.wps.cn/officeDocument/2017/drawingmlCustomData" val="1"/>
                    </a:ext>
                  </a:extLst>
                </a:hlinkClick>
              </a:rPr>
              <a:t> https://doi.org/10.1016/S0377-2217(02)00069-3</a:t>
            </a:r>
            <a:endParaRPr lang="en-US" altLang="en-US">
              <a:latin typeface="Cambria" panose="02040503050406030204" pitchFamily="18" charset="0"/>
              <a:cs typeface="Cambria" panose="02040503050406030204" pitchFamily="18" charset="0"/>
            </a:endParaRPr>
          </a:p>
          <a:p>
            <a:pPr marL="76200" indent="0">
              <a:buNone/>
            </a:pP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p:cNvPicPr>
            <a:picLocks noChangeAspect="1"/>
          </p:cNvPicPr>
          <p:nvPr/>
        </p:nvPicPr>
        <p:blipFill>
          <a:blip r:embed="rId1"/>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11995</Words>
  <Application>WPS Presentation</Application>
  <PresentationFormat>Widescreen</PresentationFormat>
  <Paragraphs>396</Paragraphs>
  <Slides>25</Slides>
  <Notes>7</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25</vt:i4>
      </vt:variant>
    </vt:vector>
  </HeadingPairs>
  <TitlesOfParts>
    <vt:vector size="36" baseType="lpstr">
      <vt:lpstr>Arial</vt:lpstr>
      <vt:lpstr>SimSun</vt:lpstr>
      <vt:lpstr>Wingdings</vt:lpstr>
      <vt:lpstr>Arial</vt:lpstr>
      <vt:lpstr>Verdana</vt:lpstr>
      <vt:lpstr>Bookman Old Style</vt:lpstr>
      <vt:lpstr>Cambria</vt:lpstr>
      <vt:lpstr>Times New Roman</vt:lpstr>
      <vt:lpstr>Microsoft YaHei</vt:lpstr>
      <vt:lpstr>Arial Unicode MS</vt:lpstr>
      <vt:lpstr>Bioinformatics</vt:lpstr>
      <vt:lpstr>AI-Based Timetable Generation System aligned with NEP 2020 for Multidisciplinary Education Structures</vt:lpstr>
      <vt:lpstr>Content</vt:lpstr>
      <vt:lpstr>Content</vt:lpstr>
      <vt:lpstr>Abstract</vt:lpstr>
      <vt:lpstr>Problem Statement</vt:lpstr>
      <vt:lpstr>Objectives</vt:lpstr>
      <vt:lpstr>Literature Survey </vt:lpstr>
      <vt:lpstr>PowerPoint 演示文稿</vt:lpstr>
      <vt:lpstr>Proposed Methodology</vt:lpstr>
      <vt:lpstr>Proposed Methodology</vt:lpstr>
      <vt:lpstr>Proposed Methodology</vt:lpstr>
      <vt:lpstr>Modules</vt:lpstr>
      <vt:lpstr>Modules</vt:lpstr>
      <vt:lpstr>Implementation Progress</vt:lpstr>
      <vt:lpstr>Hardware &amp; Software Requirements</vt:lpstr>
      <vt:lpstr>PowerPoint 演示文稿</vt:lpstr>
      <vt:lpstr>SDG Mapping</vt:lpstr>
      <vt:lpstr>Innovation / Novel Contribution:</vt:lpstr>
      <vt:lpstr>Timeline (Gantt Chart)</vt:lpstr>
      <vt:lpstr>Github Link</vt:lpstr>
      <vt:lpstr>References</vt:lpstr>
      <vt:lpstr>References</vt:lpstr>
      <vt:lpstr>References</vt:lpstr>
      <vt:lpstr>References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Tarishma Sai</cp:lastModifiedBy>
  <cp:revision>45</cp:revision>
  <dcterms:created xsi:type="dcterms:W3CDTF">2026-02-04T17:47:00Z</dcterms:created>
  <dcterms:modified xsi:type="dcterms:W3CDTF">2026-04-23T15:17:22Z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5438A1E8ECC5483EA1B26A2B222493E4_13</vt:lpwstr>
  </property>
  <property fmtid="{D5CDD505-2E9C-101B-9397-08002B2CF9AE}" pid="3" name="KSOProductBuildVer">
    <vt:lpwstr>1033-12.1.0.25242</vt:lpwstr>
  </property>
</Properties>
</file>